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Janke LLP PowerPoint template. Replace bracketed placeholders with client-specific content. Use Gilroy for headings and Arial for body text. Slide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Janke LLP PowerPoint template. Replace bracketed placeholders with client-specific content. Use Gilroy for headings and Arial for body text.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Janke LLP PowerPoint template. Replace bracketed placeholders with client-specific content. Use Gilroy for headings and Arial for body text. Slide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Janke LLP PowerPoint template. Replace bracketed placeholders with client-specific content. Use Gilroy for headings and Arial for body text. Slide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Janke LLP PowerPoint template. Replace bracketed placeholders with client-specific content. Use Gilroy for headings and Arial for body text. Slide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Janke LLP PowerPoint template. Replace bracketed placeholders with client-specific content. Use Gilroy for headings and Arial for body text. Slide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Janke LLP PowerPoint template. Replace bracketed placeholders with client-specific content. Use Gilroy for headings and Arial for body text. Slide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Janke LLP PowerPoint template. Replace bracketed placeholders with client-specific content. Use Gilroy for headings and Arial for body text. Slide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Janke LLP PowerPoint template. Replace bracketed placeholders with client-specific content. Use Gilroy for headings and Arial for body text. Slide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Janke LLP PowerPoint template. Replace bracketed placeholders with client-specific content. Use Gilroy for headings and Arial for body text. Slide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Janke LLP PowerPoint template. Replace bracketed placeholders with client-specific content. Use Gilroy for headings and Arial for body text. Slide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Janke LLP PowerPoint template. Replace bracketed placeholders with client-specific content. Use Gilroy for headings and Arial for body text. Slide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B"/>
          </a:solidFill>
          <a:ln>
            <a:solidFill>
              <a:srgbClr val="B58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28600" y="228600"/>
            <a:ext cx="109728" cy="6400800"/>
          </a:xfrm>
          <a:prstGeom prst="rect">
            <a:avLst/>
          </a:prstGeom>
          <a:solidFill>
            <a:srgbClr val="D4A842"/>
          </a:solidFill>
          <a:ln w="12700">
            <a:solidFill>
              <a:srgbClr val="D4A84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869680" y="502920"/>
            <a:ext cx="2471166" cy="3154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207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JANKE LLP</a:t>
            </a:r>
            <a:endParaRPr lang="en-US" sz="2070" dirty="0"/>
          </a:p>
        </p:txBody>
      </p:sp>
      <p:sp>
        <p:nvSpPr>
          <p:cNvPr id="6" name="Text 4"/>
          <p:cNvSpPr/>
          <p:nvPr/>
        </p:nvSpPr>
        <p:spPr>
          <a:xfrm>
            <a:off x="8848649" y="839419"/>
            <a:ext cx="2492197" cy="1787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  <a:defRPr>
                <a:solidFill>
                  <a:srgbClr val="C9C5BD"/>
                </a:solidFill>
                <a:latin typeface="Gilroy"/>
              </a:defRPr>
            </a:pPr>
            <a:r>
              <a:rPr lang="en-US" sz="759" dirty="0">
                <a:solidFill>
                  <a:srgbClr val="C9C5BD"/>
                </a:solidFill>
                <a:latin typeface="Gilroy" pitchFamily="34" charset="0"/>
                <a:ea typeface="Arial" pitchFamily="34" charset="-122"/>
                <a:cs typeface="Arial" pitchFamily="34" charset="-120"/>
              </a:rPr>
              <a:t>Chartered Professional Accountants</a:t>
            </a:r>
            <a:endParaRPr lang="en-US" sz="759" dirty="0"/>
          </a:p>
        </p:txBody>
      </p:sp>
      <p:sp>
        <p:nvSpPr>
          <p:cNvPr id="7" name="Text 5"/>
          <p:cNvSpPr/>
          <p:nvPr/>
        </p:nvSpPr>
        <p:spPr>
          <a:xfrm>
            <a:off x="3657600" y="1874520"/>
            <a:ext cx="676656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38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[Presentation Title]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694176" y="2788920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3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[Client name or audience]  |  [Date]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94176" y="5321808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800" b="1" dirty="0">
                <a:solidFill>
                  <a:srgbClr val="F7F5F0"/>
                </a:solidFill>
                <a:latin typeface="Arial" pitchFamily="34" charset="0"/>
                <a:ea typeface="Gilroy" pitchFamily="34" charset="-122"/>
                <a:cs typeface="Gilroy" pitchFamily="34" charset="-120"/>
              </a:rPr>
              <a:t>Grounded advice. Grow better.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94176" y="5751576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05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selectively as a campaign or presentation line only.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B"/>
          </a:solidFill>
          <a:ln>
            <a:solidFill>
              <a:srgbClr val="B58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9281160" y="32004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18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JANKE LLP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262872" y="612648"/>
            <a:ext cx="2167128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  <a:defRPr>
                <a:solidFill>
                  <a:srgbClr val="C9C5BD"/>
                </a:solidFill>
                <a:latin typeface="Gilroy"/>
              </a:defRPr>
            </a:pPr>
            <a:r>
              <a:rPr lang="en-US" sz="660" dirty="0">
                <a:solidFill>
                  <a:srgbClr val="C9C5BD"/>
                </a:solidFill>
                <a:latin typeface="Gilroy" pitchFamily="34" charset="0"/>
                <a:ea typeface="Arial" pitchFamily="34" charset="-122"/>
                <a:cs typeface="Arial" pitchFamily="34" charset="-120"/>
              </a:rPr>
              <a:t>Chartered Professional Accountants</a:t>
            </a:r>
            <a:endParaRPr lang="en-US" sz="660" dirty="0"/>
          </a:p>
        </p:txBody>
      </p:sp>
      <p:sp>
        <p:nvSpPr>
          <p:cNvPr id="4" name="Text 2"/>
          <p:cNvSpPr/>
          <p:nvPr/>
        </p:nvSpPr>
        <p:spPr>
          <a:xfrm>
            <a:off x="640080" y="51206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85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OVERVIEW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804672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28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Today's conversation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44752"/>
            <a:ext cx="1920240" cy="27432"/>
          </a:xfrm>
          <a:prstGeom prst="rect">
            <a:avLst/>
          </a:prstGeom>
          <a:solidFill>
            <a:srgbClr val="D4A842"/>
          </a:solidFill>
          <a:ln w="12700">
            <a:solidFill>
              <a:srgbClr val="D4A84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1874520"/>
            <a:ext cx="5120640" cy="310896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2000" b="1" dirty="0">
                <a:solidFill>
                  <a:srgbClr val="F7F5F0"/>
                </a:solidFill>
                <a:latin typeface="Arial" pitchFamily="34" charset="0"/>
                <a:ea typeface="Gilroy" pitchFamily="34" charset="-122"/>
                <a:cs typeface="Gilroy" pitchFamily="34" charset="-120"/>
              </a:rPr>
              <a:t>1. What we heard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2441448"/>
            <a:ext cx="5120640" cy="310896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2000" b="1" dirty="0">
                <a:solidFill>
                  <a:srgbClr val="F7F5F0"/>
                </a:solidFill>
                <a:latin typeface="Arial" pitchFamily="34" charset="0"/>
                <a:ea typeface="Gilroy" pitchFamily="34" charset="-122"/>
                <a:cs typeface="Gilroy" pitchFamily="34" charset="-120"/>
              </a:rPr>
              <a:t>2. What better could look like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3008376"/>
            <a:ext cx="5120640" cy="310896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2000" b="1" dirty="0">
                <a:solidFill>
                  <a:srgbClr val="F7F5F0"/>
                </a:solidFill>
                <a:latin typeface="Arial" pitchFamily="34" charset="0"/>
                <a:ea typeface="Gilroy" pitchFamily="34" charset="-122"/>
                <a:cs typeface="Gilroy" pitchFamily="34" charset="-120"/>
              </a:rPr>
              <a:t>3. Options and implications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3575304"/>
            <a:ext cx="5120640" cy="310896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2000" b="1" dirty="0">
                <a:solidFill>
                  <a:srgbClr val="F7F5F0"/>
                </a:solidFill>
                <a:latin typeface="Arial" pitchFamily="34" charset="0"/>
                <a:ea typeface="Gilroy" pitchFamily="34" charset="-122"/>
                <a:cs typeface="Gilroy" pitchFamily="34" charset="-120"/>
              </a:rPr>
              <a:t>4. Recommended path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60120" y="4142232"/>
            <a:ext cx="5120640" cy="310896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2000" b="1" dirty="0">
                <a:solidFill>
                  <a:srgbClr val="F7F5F0"/>
                </a:solidFill>
                <a:latin typeface="Arial" pitchFamily="34" charset="0"/>
                <a:ea typeface="Gilroy" pitchFamily="34" charset="-122"/>
                <a:cs typeface="Gilroy" pitchFamily="34" charset="-120"/>
              </a:rPr>
              <a:t>5. Next steps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766560" y="1828800"/>
            <a:ext cx="4343400" cy="2743200"/>
          </a:xfrm>
          <a:prstGeom prst="roundRect">
            <a:avLst>
              <a:gd name="adj" fmla="val 2667"/>
            </a:avLst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086600" y="2240280"/>
            <a:ext cx="3703320" cy="109728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7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slide to set expectations. Keep agenda items outcome-oriented and avoid overloading the page.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086600" y="41605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800" b="1" dirty="0">
                <a:solidFill>
                  <a:srgbClr val="F7F5F0"/>
                </a:solidFill>
                <a:latin typeface="Arial" pitchFamily="34" charset="0"/>
                <a:ea typeface="Gilroy" pitchFamily="34" charset="-122"/>
                <a:cs typeface="Gilroy" pitchFamily="34" charset="-120"/>
              </a:rPr>
              <a:t>Client-first. Practical. Plain language.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D4A842"/>
                </a:solidFill>
                <a:latin typeface="Arial"/>
              </a:defRPr>
            </a:pPr>
            <a:r>
              <a:rPr lang="en-US" sz="800" dirty="0">
                <a:solidFill>
                  <a:srgbClr val="D4A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314432" y="6391656"/>
            <a:ext cx="10515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8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JANKE LLP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B"/>
          </a:solidFill>
          <a:ln>
            <a:solidFill>
              <a:srgbClr val="B58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869680" y="502920"/>
            <a:ext cx="2471166" cy="3154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207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JANKE LLP</a:t>
            </a:r>
            <a:endParaRPr lang="en-US" sz="2070" dirty="0"/>
          </a:p>
        </p:txBody>
      </p:sp>
      <p:sp>
        <p:nvSpPr>
          <p:cNvPr id="4" name="Text 2"/>
          <p:cNvSpPr/>
          <p:nvPr/>
        </p:nvSpPr>
        <p:spPr>
          <a:xfrm>
            <a:off x="8848649" y="839419"/>
            <a:ext cx="2492197" cy="1787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  <a:defRPr>
                <a:solidFill>
                  <a:srgbClr val="C9C5BD"/>
                </a:solidFill>
                <a:latin typeface="Gilroy"/>
              </a:defRPr>
            </a:pPr>
            <a:r>
              <a:rPr lang="en-US" sz="759" dirty="0">
                <a:solidFill>
                  <a:srgbClr val="C9C5BD"/>
                </a:solidFill>
                <a:latin typeface="Gilroy" pitchFamily="34" charset="0"/>
                <a:ea typeface="Arial" pitchFamily="34" charset="-122"/>
                <a:cs typeface="Arial" pitchFamily="34" charset="-120"/>
              </a:rPr>
              <a:t>Chartered Professional Accountants</a:t>
            </a:r>
            <a:endParaRPr lang="en-US" sz="759" dirty="0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11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40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[Section Title]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04672" y="2971800"/>
            <a:ext cx="576072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5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section dividers to create breathing room and reinforce narrative flow.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5257800"/>
            <a:ext cx="1828800" cy="27432"/>
          </a:xfrm>
          <a:prstGeom prst="rect">
            <a:avLst/>
          </a:prstGeom>
          <a:solidFill>
            <a:srgbClr val="D4A842"/>
          </a:solidFill>
          <a:ln w="12700">
            <a:solidFill>
              <a:srgbClr val="D4A84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829800" y="6419088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r" indent="0" marL="0">
              <a:buNone/>
              <a:defRPr>
                <a:solidFill>
                  <a:srgbClr val="D4A842"/>
                </a:solidFill>
                <a:latin typeface="Arial"/>
              </a:defRPr>
            </a:pPr>
            <a:r>
              <a:rPr lang="en-US" sz="900" b="1" dirty="0">
                <a:solidFill>
                  <a:srgbClr val="D4A842"/>
                </a:solidFill>
                <a:latin typeface="Arial" pitchFamily="34" charset="0"/>
                <a:ea typeface="Gilroy" pitchFamily="34" charset="-122"/>
                <a:cs typeface="Gilroy" pitchFamily="34" charset="-120"/>
              </a:rPr>
              <a:t>Janke LLP</a:t>
            </a:r>
            <a:endParaRPr lang="en-US" sz="900" dirty="0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842"/>
          </a:solidFill>
          <a:ln>
            <a:solidFill>
              <a:srgbClr val="D4A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B"/>
          </a:solidFill>
          <a:ln>
            <a:solidFill>
              <a:srgbClr val="B58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9281160" y="32004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18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JANKE LLP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262872" y="612648"/>
            <a:ext cx="2167128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  <a:defRPr>
                <a:solidFill>
                  <a:srgbClr val="C9C5BD"/>
                </a:solidFill>
                <a:latin typeface="Gilroy"/>
              </a:defRPr>
            </a:pPr>
            <a:r>
              <a:rPr lang="en-US" sz="660" dirty="0">
                <a:solidFill>
                  <a:srgbClr val="C9C5BD"/>
                </a:solidFill>
                <a:latin typeface="Gilroy" pitchFamily="34" charset="0"/>
                <a:ea typeface="Arial" pitchFamily="34" charset="-122"/>
                <a:cs typeface="Arial" pitchFamily="34" charset="-120"/>
              </a:rPr>
              <a:t>Chartered Professional Accountants</a:t>
            </a:r>
            <a:endParaRPr lang="en-US" sz="660" dirty="0"/>
          </a:p>
        </p:txBody>
      </p:sp>
      <p:sp>
        <p:nvSpPr>
          <p:cNvPr id="4" name="Text 2"/>
          <p:cNvSpPr/>
          <p:nvPr/>
        </p:nvSpPr>
        <p:spPr>
          <a:xfrm>
            <a:off x="640080" y="51206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85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CONTENT SLIDE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804672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28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Headline that states the point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44752"/>
            <a:ext cx="1920240" cy="27432"/>
          </a:xfrm>
          <a:prstGeom prst="rect">
            <a:avLst/>
          </a:prstGeom>
          <a:solidFill>
            <a:srgbClr val="D4A842"/>
          </a:solidFill>
          <a:ln w="12700">
            <a:solidFill>
              <a:srgbClr val="D4A84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58368" y="187452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800" b="1" dirty="0">
                <a:solidFill>
                  <a:srgbClr val="F7F5F0"/>
                </a:solidFill>
                <a:latin typeface="Arial" pitchFamily="34" charset="0"/>
                <a:ea typeface="Gilroy" pitchFamily="34" charset="-122"/>
                <a:cs typeface="Gilroy" pitchFamily="34" charset="-120"/>
              </a:rPr>
              <a:t>Lead with the conclusion.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" y="2286000"/>
            <a:ext cx="4709160" cy="109728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5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body area for concise explanation, implications, and what the audience should do next. Keep dense technical content in appendices or handouts.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4617720" cy="1143000"/>
          </a:xfrm>
          <a:prstGeom prst="rect">
            <a:avLst/>
          </a:prstGeom>
          <a:noFill/>
          <a:ln>
            <a:noFill/>
          </a:ln>
        </p:spPr>
        <p:txBody>
          <a:bodyPr wrap="square" lIns="381" tIns="381" rIns="381" bIns="381" rtlCol="0" anchor="ctr">
            <a:normAutofit/>
          </a:bodyPr>
          <a:lstStyle/>
          <a:p>
            <a:pPr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4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Plain-language explanation
</a:t>
            </a:r>
            <a:endParaRPr lang="en-US" sz="1400" dirty="0"/>
          </a:p>
          <a:p>
            <a:pPr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4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decision or insight per slide
</a:t>
            </a:r>
            <a:endParaRPr lang="en-US" sz="1400" dirty="0"/>
          </a:p>
          <a:p>
            <a:pPr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4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visuals only when they clarify the point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1874520"/>
            <a:ext cx="4526280" cy="2971800"/>
          </a:xfrm>
          <a:prstGeom prst="roundRect">
            <a:avLst>
              <a:gd name="adj" fmla="val 2462"/>
            </a:avLst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748272" y="224028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16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Key takeaway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48272" y="2697480"/>
            <a:ext cx="3794760" cy="91440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6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the practical conclusion or recommendation the client should remember.]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48272" y="39776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1400" b="1" dirty="0">
                <a:solidFill>
                  <a:srgbClr val="D4A842"/>
                </a:solidFill>
                <a:latin typeface="Gilroy" pitchFamily="34" charset="0"/>
                <a:ea typeface="Arial" pitchFamily="34" charset="-122"/>
                <a:cs typeface="Arial" pitchFamily="34" charset="-120"/>
              </a:rPr>
              <a:t>What this means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48272" y="434340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3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[Short implication or next action.]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D4A842"/>
                </a:solidFill>
                <a:latin typeface="Arial"/>
              </a:defRPr>
            </a:pPr>
            <a:r>
              <a:rPr lang="en-US" sz="800" dirty="0">
                <a:solidFill>
                  <a:srgbClr val="D4A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314432" y="6391656"/>
            <a:ext cx="10515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8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JANKE LLP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B"/>
          </a:solidFill>
          <a:ln>
            <a:solidFill>
              <a:srgbClr val="B58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9281160" y="32004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18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JANKE LLP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262872" y="612648"/>
            <a:ext cx="2167128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  <a:defRPr>
                <a:solidFill>
                  <a:srgbClr val="C9C5BD"/>
                </a:solidFill>
                <a:latin typeface="Gilroy"/>
              </a:defRPr>
            </a:pPr>
            <a:r>
              <a:rPr lang="en-US" sz="660" dirty="0">
                <a:solidFill>
                  <a:srgbClr val="C9C5BD"/>
                </a:solidFill>
                <a:latin typeface="Gilroy" pitchFamily="34" charset="0"/>
                <a:ea typeface="Arial" pitchFamily="34" charset="-122"/>
                <a:cs typeface="Arial" pitchFamily="34" charset="-120"/>
              </a:rPr>
              <a:t>Chartered Professional Accountants</a:t>
            </a:r>
            <a:endParaRPr lang="en-US" sz="660" dirty="0"/>
          </a:p>
        </p:txBody>
      </p:sp>
      <p:sp>
        <p:nvSpPr>
          <p:cNvPr id="4" name="Text 2"/>
          <p:cNvSpPr/>
          <p:nvPr/>
        </p:nvSpPr>
        <p:spPr>
          <a:xfrm>
            <a:off x="640080" y="51206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85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OPTIONS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804672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28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Compare the practical choices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44752"/>
            <a:ext cx="1920240" cy="27432"/>
          </a:xfrm>
          <a:prstGeom prst="rect">
            <a:avLst/>
          </a:prstGeom>
          <a:solidFill>
            <a:srgbClr val="D4A842"/>
          </a:solidFill>
          <a:ln w="12700">
            <a:solidFill>
              <a:srgbClr val="D4A842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85800" y="1828800"/>
            <a:ext cx="5166360" cy="3566160"/>
          </a:xfrm>
          <a:prstGeom prst="roundRect">
            <a:avLst>
              <a:gd name="adj" fmla="val 2051"/>
            </a:avLst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336792" y="1828800"/>
            <a:ext cx="5166360" cy="3566160"/>
          </a:xfrm>
          <a:prstGeom prst="roundRect">
            <a:avLst>
              <a:gd name="adj" fmla="val 2051"/>
            </a:avLst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60120" y="21488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20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Option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2523744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2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[Plain-language name of the option]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971800"/>
            <a:ext cx="4389120" cy="1280160"/>
          </a:xfrm>
          <a:prstGeom prst="rect">
            <a:avLst/>
          </a:prstGeom>
          <a:noFill/>
          <a:ln>
            <a:noFill/>
          </a:ln>
        </p:spPr>
        <p:txBody>
          <a:bodyPr wrap="square" lIns="381" tIns="381" rIns="381" bIns="381" rtlCol="0" anchor="ctr">
            <a:normAutofit/>
          </a:bodyPr>
          <a:lstStyle/>
          <a:p>
            <a:pPr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4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when: [condition]
</a:t>
            </a:r>
            <a:endParaRPr lang="en-US" sz="1400" dirty="0"/>
          </a:p>
          <a:p>
            <a:pPr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4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[risk or cost]
</a:t>
            </a:r>
            <a:endParaRPr lang="en-US" sz="1400" dirty="0"/>
          </a:p>
          <a:p>
            <a:pPr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4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point: [what client must choose]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11112" y="21488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20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Option 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611112" y="2523744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2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[Plain-language name of the option]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66560" y="2971800"/>
            <a:ext cx="4389120" cy="1280160"/>
          </a:xfrm>
          <a:prstGeom prst="rect">
            <a:avLst/>
          </a:prstGeom>
          <a:noFill/>
          <a:ln>
            <a:noFill/>
          </a:ln>
        </p:spPr>
        <p:txBody>
          <a:bodyPr wrap="square" lIns="381" tIns="381" rIns="381" bIns="381" rtlCol="0" anchor="ctr">
            <a:normAutofit/>
          </a:bodyPr>
          <a:lstStyle/>
          <a:p>
            <a:pPr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4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when: [condition]
</a:t>
            </a:r>
            <a:endParaRPr lang="en-US" sz="1400" dirty="0"/>
          </a:p>
          <a:p>
            <a:pPr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4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[risk or cost]
</a:t>
            </a:r>
            <a:endParaRPr lang="en-US" sz="1400" dirty="0"/>
          </a:p>
          <a:p>
            <a:pPr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4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point: [what client must choose]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5669280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700" b="1" dirty="0">
                <a:solidFill>
                  <a:srgbClr val="F7F5F0"/>
                </a:solidFill>
                <a:latin typeface="Arial" pitchFamily="34" charset="0"/>
                <a:ea typeface="Gilroy" pitchFamily="34" charset="-122"/>
                <a:cs typeface="Gilroy" pitchFamily="34" charset="-120"/>
              </a:rPr>
              <a:t>Recommendation: [state preferred path and why]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D4A842"/>
                </a:solidFill>
                <a:latin typeface="Arial"/>
              </a:defRPr>
            </a:pPr>
            <a:r>
              <a:rPr lang="en-US" sz="800" dirty="0">
                <a:solidFill>
                  <a:srgbClr val="D4A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314432" y="6391656"/>
            <a:ext cx="10515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8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JANKE LLP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B"/>
          </a:solidFill>
          <a:ln>
            <a:solidFill>
              <a:srgbClr val="B58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9281160" y="32004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18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JANKE LLP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262872" y="612648"/>
            <a:ext cx="2167128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  <a:defRPr>
                <a:solidFill>
                  <a:srgbClr val="C9C5BD"/>
                </a:solidFill>
                <a:latin typeface="Gilroy"/>
              </a:defRPr>
            </a:pPr>
            <a:r>
              <a:rPr lang="en-US" sz="660" dirty="0">
                <a:solidFill>
                  <a:srgbClr val="C9C5BD"/>
                </a:solidFill>
                <a:latin typeface="Gilroy" pitchFamily="34" charset="0"/>
                <a:ea typeface="Arial" pitchFamily="34" charset="-122"/>
                <a:cs typeface="Arial" pitchFamily="34" charset="-120"/>
              </a:rPr>
              <a:t>Chartered Professional Accountants</a:t>
            </a:r>
            <a:endParaRPr lang="en-US" sz="660" dirty="0"/>
          </a:p>
        </p:txBody>
      </p:sp>
      <p:sp>
        <p:nvSpPr>
          <p:cNvPr id="4" name="Text 2"/>
          <p:cNvSpPr/>
          <p:nvPr/>
        </p:nvSpPr>
        <p:spPr>
          <a:xfrm>
            <a:off x="640080" y="51206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85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ADVISORY NARRATIVE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804672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28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From issue to opportunity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44752"/>
            <a:ext cx="1920240" cy="27432"/>
          </a:xfrm>
          <a:prstGeom prst="rect">
            <a:avLst/>
          </a:prstGeom>
          <a:solidFill>
            <a:srgbClr val="D4A842"/>
          </a:solidFill>
          <a:ln w="12700">
            <a:solidFill>
              <a:srgbClr val="D4A842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13232" y="1874520"/>
            <a:ext cx="3246120" cy="3246120"/>
          </a:xfrm>
          <a:prstGeom prst="roundRect">
            <a:avLst>
              <a:gd name="adj" fmla="val 2254"/>
            </a:avLst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87552" y="221284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20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Issue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87552" y="2743200"/>
            <a:ext cx="2697480" cy="114300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5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creating pressure or uncertainty?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87552" y="4297680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2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[Add one specific example.]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1874520"/>
            <a:ext cx="3246120" cy="3246120"/>
          </a:xfrm>
          <a:prstGeom prst="roundRect">
            <a:avLst>
              <a:gd name="adj" fmla="val 2254"/>
            </a:avLst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754880" y="221284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20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Opportunity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54880" y="2743200"/>
            <a:ext cx="2697480" cy="114300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5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could improve if addressed well?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54880" y="4297680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2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[Add one specific example.]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47888" y="1874520"/>
            <a:ext cx="3246120" cy="3246120"/>
          </a:xfrm>
          <a:prstGeom prst="roundRect">
            <a:avLst>
              <a:gd name="adj" fmla="val 2254"/>
            </a:avLst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522208" y="221284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20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Response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22208" y="2743200"/>
            <a:ext cx="2697480" cy="114300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5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Janke LLP can help the client move forward.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22208" y="4297680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2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[Add one specific example.]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D4A842"/>
                </a:solidFill>
                <a:latin typeface="Arial"/>
              </a:defRPr>
            </a:pPr>
            <a:r>
              <a:rPr lang="en-US" sz="800" dirty="0">
                <a:solidFill>
                  <a:srgbClr val="D4A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314432" y="6391656"/>
            <a:ext cx="10515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8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JANKE LLP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B"/>
          </a:solidFill>
          <a:ln>
            <a:solidFill>
              <a:srgbClr val="B58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9281160" y="32004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18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JANKE LLP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262872" y="612648"/>
            <a:ext cx="2167128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  <a:defRPr>
                <a:solidFill>
                  <a:srgbClr val="C9C5BD"/>
                </a:solidFill>
                <a:latin typeface="Gilroy"/>
              </a:defRPr>
            </a:pPr>
            <a:r>
              <a:rPr lang="en-US" sz="660" dirty="0">
                <a:solidFill>
                  <a:srgbClr val="C9C5BD"/>
                </a:solidFill>
                <a:latin typeface="Gilroy" pitchFamily="34" charset="0"/>
                <a:ea typeface="Arial" pitchFamily="34" charset="-122"/>
                <a:cs typeface="Arial" pitchFamily="34" charset="-120"/>
              </a:rPr>
              <a:t>Chartered Professional Accountants</a:t>
            </a:r>
            <a:endParaRPr lang="en-US" sz="660" dirty="0"/>
          </a:p>
        </p:txBody>
      </p:sp>
      <p:sp>
        <p:nvSpPr>
          <p:cNvPr id="4" name="Text 2"/>
          <p:cNvSpPr/>
          <p:nvPr/>
        </p:nvSpPr>
        <p:spPr>
          <a:xfrm>
            <a:off x="640080" y="51206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85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STRUCTURED DETAIL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804672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28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Decision table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44752"/>
            <a:ext cx="1920240" cy="27432"/>
          </a:xfrm>
          <a:prstGeom prst="rect">
            <a:avLst/>
          </a:prstGeom>
          <a:solidFill>
            <a:srgbClr val="D4A842"/>
          </a:solidFill>
          <a:ln w="12700">
            <a:solidFill>
              <a:srgbClr val="D4A842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85800" y="1874520"/>
            <a:ext cx="1783080" cy="502920"/>
          </a:xfrm>
          <a:prstGeom prst="roundRect">
            <a:avLst>
              <a:gd name="adj" fmla="val 14545"/>
            </a:avLst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58952" y="2020824"/>
            <a:ext cx="1636776" cy="18288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050" b="1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68880" y="1874520"/>
            <a:ext cx="2880360" cy="502920"/>
          </a:xfrm>
          <a:prstGeom prst="roundRect">
            <a:avLst>
              <a:gd name="adj" fmla="val 14545"/>
            </a:avLst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542032" y="2020824"/>
            <a:ext cx="2734056" cy="18288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050" b="1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49240" y="1874520"/>
            <a:ext cx="3063240" cy="502920"/>
          </a:xfrm>
          <a:prstGeom prst="roundRect">
            <a:avLst>
              <a:gd name="adj" fmla="val 14545"/>
            </a:avLst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422392" y="2020824"/>
            <a:ext cx="2916936" cy="18288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050" b="1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better looks like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412480" y="1874520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85632" y="2020824"/>
            <a:ext cx="2962656" cy="18288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050" b="1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2377440"/>
            <a:ext cx="1783080" cy="658368"/>
          </a:xfrm>
          <a:prstGeom prst="roundRect">
            <a:avLst>
              <a:gd name="adj" fmla="val 11111"/>
            </a:avLst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58952" y="2523744"/>
            <a:ext cx="1636776" cy="22860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05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planning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468880" y="2377440"/>
            <a:ext cx="2880360" cy="658368"/>
          </a:xfrm>
          <a:prstGeom prst="roundRect">
            <a:avLst>
              <a:gd name="adj" fmla="val 11111"/>
            </a:avLst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542032" y="2523744"/>
            <a:ext cx="2734056" cy="22860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05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[Description]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49240" y="2377440"/>
            <a:ext cx="3063240" cy="658368"/>
          </a:xfrm>
          <a:prstGeom prst="roundRect">
            <a:avLst>
              <a:gd name="adj" fmla="val 11111"/>
            </a:avLst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422392" y="2523744"/>
            <a:ext cx="2916936" cy="22860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05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[Improvement]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412480" y="2377440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485632" y="2523744"/>
            <a:ext cx="2962656" cy="22860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05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[Action]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" y="3035808"/>
            <a:ext cx="1783080" cy="658368"/>
          </a:xfrm>
          <a:prstGeom prst="roundRect">
            <a:avLst>
              <a:gd name="adj" fmla="val 11111"/>
            </a:avLst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58952" y="3182112"/>
            <a:ext cx="1636776" cy="22860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05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468880" y="3035808"/>
            <a:ext cx="2880360" cy="658368"/>
          </a:xfrm>
          <a:prstGeom prst="roundRect">
            <a:avLst>
              <a:gd name="adj" fmla="val 11111"/>
            </a:avLst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2542032" y="3182112"/>
            <a:ext cx="2734056" cy="22860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05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[Description]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349240" y="3035808"/>
            <a:ext cx="3063240" cy="658368"/>
          </a:xfrm>
          <a:prstGeom prst="roundRect">
            <a:avLst>
              <a:gd name="adj" fmla="val 11111"/>
            </a:avLst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422392" y="3182112"/>
            <a:ext cx="2916936" cy="22860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05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[Improvement]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412480" y="3035808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485632" y="3182112"/>
            <a:ext cx="2962656" cy="22860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05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[Action]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85800" y="3694176"/>
            <a:ext cx="1783080" cy="658368"/>
          </a:xfrm>
          <a:prstGeom prst="roundRect">
            <a:avLst>
              <a:gd name="adj" fmla="val 11111"/>
            </a:avLst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58952" y="3840480"/>
            <a:ext cx="1636776" cy="22860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05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flow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468880" y="3694176"/>
            <a:ext cx="2880360" cy="658368"/>
          </a:xfrm>
          <a:prstGeom prst="roundRect">
            <a:avLst>
              <a:gd name="adj" fmla="val 11111"/>
            </a:avLst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542032" y="3840480"/>
            <a:ext cx="2734056" cy="22860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05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[Description]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349240" y="3694176"/>
            <a:ext cx="3063240" cy="658368"/>
          </a:xfrm>
          <a:prstGeom prst="roundRect">
            <a:avLst>
              <a:gd name="adj" fmla="val 11111"/>
            </a:avLst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422392" y="3840480"/>
            <a:ext cx="2916936" cy="22860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05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[Improvement]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412480" y="3694176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8485632" y="3840480"/>
            <a:ext cx="2962656" cy="22860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05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[Action]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85800" y="4352544"/>
            <a:ext cx="1783080" cy="658368"/>
          </a:xfrm>
          <a:prstGeom prst="roundRect">
            <a:avLst>
              <a:gd name="adj" fmla="val 11111"/>
            </a:avLst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758952" y="4498848"/>
            <a:ext cx="1636776" cy="22860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05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Succession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468880" y="4352544"/>
            <a:ext cx="2880360" cy="658368"/>
          </a:xfrm>
          <a:prstGeom prst="roundRect">
            <a:avLst>
              <a:gd name="adj" fmla="val 11111"/>
            </a:avLst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2542032" y="4498848"/>
            <a:ext cx="2734056" cy="22860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05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[Description]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349240" y="4352544"/>
            <a:ext cx="3063240" cy="658368"/>
          </a:xfrm>
          <a:prstGeom prst="roundRect">
            <a:avLst>
              <a:gd name="adj" fmla="val 11111"/>
            </a:avLst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422392" y="4498848"/>
            <a:ext cx="2916936" cy="22860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05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[Improvement]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412480" y="4352544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8485632" y="4498848"/>
            <a:ext cx="2962656" cy="22860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05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[Action]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13232" y="571500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1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tables sparingly. Prefer decisions, implications and next actions over raw detail.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029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D4A842"/>
                </a:solidFill>
                <a:latin typeface="Arial"/>
              </a:defRPr>
            </a:pPr>
            <a:r>
              <a:rPr lang="en-US" sz="800" dirty="0">
                <a:solidFill>
                  <a:srgbClr val="D4A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0314432" y="6391656"/>
            <a:ext cx="10515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8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JANKE LLP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B"/>
          </a:solidFill>
          <a:ln>
            <a:solidFill>
              <a:srgbClr val="B58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9281160" y="32004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18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JANKE LLP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262872" y="612648"/>
            <a:ext cx="2167128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  <a:defRPr>
                <a:solidFill>
                  <a:srgbClr val="C9C5BD"/>
                </a:solidFill>
                <a:latin typeface="Gilroy"/>
              </a:defRPr>
            </a:pPr>
            <a:r>
              <a:rPr lang="en-US" sz="660" dirty="0">
                <a:solidFill>
                  <a:srgbClr val="C9C5BD"/>
                </a:solidFill>
                <a:latin typeface="Gilroy" pitchFamily="34" charset="0"/>
                <a:ea typeface="Arial" pitchFamily="34" charset="-122"/>
                <a:cs typeface="Arial" pitchFamily="34" charset="-120"/>
              </a:rPr>
              <a:t>Chartered Professional Accountants</a:t>
            </a:r>
            <a:endParaRPr lang="en-US" sz="660" dirty="0"/>
          </a:p>
        </p:txBody>
      </p:sp>
      <p:sp>
        <p:nvSpPr>
          <p:cNvPr id="4" name="Text 2"/>
          <p:cNvSpPr/>
          <p:nvPr/>
        </p:nvSpPr>
        <p:spPr>
          <a:xfrm>
            <a:off x="640080" y="51206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85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DATA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804672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28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A simple chart with the implication stated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44752"/>
            <a:ext cx="1920240" cy="27432"/>
          </a:xfrm>
          <a:prstGeom prst="rect">
            <a:avLst/>
          </a:prstGeom>
          <a:solidFill>
            <a:srgbClr val="D4A842"/>
          </a:solidFill>
          <a:ln w="12700">
            <a:solidFill>
              <a:srgbClr val="D4A842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31520" y="1920240"/>
            <a:ext cx="6400800" cy="3520440"/>
          </a:xfrm>
          <a:prstGeom prst="roundRect">
            <a:avLst>
              <a:gd name="adj" fmla="val 2078"/>
            </a:avLst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88720" y="4114800"/>
            <a:ext cx="530352" cy="777240"/>
          </a:xfrm>
          <a:prstGeom prst="rect">
            <a:avLst/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115568" y="5074920"/>
            <a:ext cx="777240" cy="164592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8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94560" y="3840480"/>
            <a:ext cx="530352" cy="1051560"/>
          </a:xfrm>
          <a:prstGeom prst="rect">
            <a:avLst/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121408" y="5074920"/>
            <a:ext cx="777240" cy="164592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8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0" y="3566160"/>
            <a:ext cx="530352" cy="1325880"/>
          </a:xfrm>
          <a:prstGeom prst="rect">
            <a:avLst/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127248" y="5074920"/>
            <a:ext cx="777240" cy="164592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8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206240" y="3291840"/>
            <a:ext cx="530352" cy="1600200"/>
          </a:xfrm>
          <a:prstGeom prst="rect">
            <a:avLst/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133088" y="5074920"/>
            <a:ext cx="777240" cy="164592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8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51560" y="4892040"/>
            <a:ext cx="4023360" cy="27432"/>
          </a:xfrm>
          <a:prstGeom prst="rect">
            <a:avLst/>
          </a:prstGeom>
          <a:solidFill>
            <a:srgbClr val="D4A842"/>
          </a:solidFill>
          <a:ln w="12700">
            <a:solidFill>
              <a:srgbClr val="D4A84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05840" y="22402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700" b="1" dirty="0">
                <a:solidFill>
                  <a:srgbClr val="F7F5F0"/>
                </a:solidFill>
                <a:latin typeface="Arial" pitchFamily="34" charset="0"/>
                <a:ea typeface="Gilroy" pitchFamily="34" charset="-122"/>
                <a:cs typeface="Gilroy" pitchFamily="34" charset="-120"/>
              </a:rPr>
              <a:t>[Chart title]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05840" y="2606040"/>
            <a:ext cx="516636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2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this placeholder with a chart exported from Excel or created in PowerPoint.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35240" y="1920240"/>
            <a:ext cx="3566160" cy="3520440"/>
          </a:xfrm>
          <a:prstGeom prst="roundRect">
            <a:avLst>
              <a:gd name="adj" fmla="val 2078"/>
            </a:avLst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955280" y="230428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17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Client implication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955280" y="2743200"/>
            <a:ext cx="2697480" cy="118872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5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[Explain what the chart means and what the client should consider doing next.]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955280" y="46177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100" b="1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let the chart speak for itself.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D4A842"/>
                </a:solidFill>
                <a:latin typeface="Arial"/>
              </a:defRPr>
            </a:pPr>
            <a:r>
              <a:rPr lang="en-US" sz="800" dirty="0">
                <a:solidFill>
                  <a:srgbClr val="D4A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314432" y="6391656"/>
            <a:ext cx="10515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8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JANKE LLP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B"/>
          </a:solidFill>
          <a:ln>
            <a:solidFill>
              <a:srgbClr val="B58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9281160" y="32004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18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JANKE LLP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262872" y="612648"/>
            <a:ext cx="2167128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  <a:defRPr>
                <a:solidFill>
                  <a:srgbClr val="C9C5BD"/>
                </a:solidFill>
                <a:latin typeface="Gilroy"/>
              </a:defRPr>
            </a:pPr>
            <a:r>
              <a:rPr lang="en-US" sz="660" dirty="0">
                <a:solidFill>
                  <a:srgbClr val="C9C5BD"/>
                </a:solidFill>
                <a:latin typeface="Gilroy" pitchFamily="34" charset="0"/>
                <a:ea typeface="Arial" pitchFamily="34" charset="-122"/>
                <a:cs typeface="Arial" pitchFamily="34" charset="-120"/>
              </a:rPr>
              <a:t>Chartered Professional Accountants</a:t>
            </a:r>
            <a:endParaRPr lang="en-US" sz="660" dirty="0"/>
          </a:p>
        </p:txBody>
      </p:sp>
      <p:sp>
        <p:nvSpPr>
          <p:cNvPr id="4" name="Text 2"/>
          <p:cNvSpPr/>
          <p:nvPr/>
        </p:nvSpPr>
        <p:spPr>
          <a:xfrm>
            <a:off x="640080" y="51206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85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PHOTOGRAPHY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804672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28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Use real images to make the point feel grounded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44752"/>
            <a:ext cx="1920240" cy="27432"/>
          </a:xfrm>
          <a:prstGeom prst="rect">
            <a:avLst/>
          </a:prstGeom>
          <a:solidFill>
            <a:srgbClr val="D4A842"/>
          </a:solidFill>
          <a:ln w="12700">
            <a:solidFill>
              <a:srgbClr val="D4A842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85800" y="1874520"/>
            <a:ext cx="5212080" cy="3474720"/>
          </a:xfrm>
          <a:prstGeom prst="roundRect">
            <a:avLst>
              <a:gd name="adj" fmla="val 2105"/>
            </a:avLst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43000" y="3063240"/>
            <a:ext cx="4297680" cy="73152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2000" b="1" dirty="0">
                <a:solidFill>
                  <a:srgbClr val="F7F5F0"/>
                </a:solidFill>
                <a:latin typeface="Arial" pitchFamily="34" charset="0"/>
                <a:ea typeface="Gilroy" pitchFamily="34" charset="-122"/>
                <a:cs typeface="Gilroy" pitchFamily="34" charset="-120"/>
              </a:rPr>
              <a:t>[Photo placeholder]</a:t>
            </a:r>
            <a:endParaRPr lang="en-US" sz="2000" dirty="0"/>
          </a:p>
          <a:p>
            <a:pPr algn="ctr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2000" b="1" dirty="0">
                <a:solidFill>
                  <a:srgbClr val="F7F5F0"/>
                </a:solidFill>
                <a:latin typeface="Arial" pitchFamily="34" charset="0"/>
                <a:ea typeface="Gilroy" pitchFamily="34" charset="-122"/>
                <a:cs typeface="Gilroy" pitchFamily="34" charset="-120"/>
              </a:rPr>
              <a:t>Real team, client-context, Saskatchewan setting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92240" y="196596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2100" b="1" dirty="0">
                <a:solidFill>
                  <a:srgbClr val="F7F5F0"/>
                </a:solidFill>
                <a:latin typeface="Arial" pitchFamily="34" charset="0"/>
                <a:ea typeface="Gilroy" pitchFamily="34" charset="-122"/>
                <a:cs typeface="Gilroy" pitchFamily="34" charset="-120"/>
              </a:rPr>
              <a:t>What the image should support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629400" y="2606040"/>
            <a:ext cx="4251960" cy="1325880"/>
          </a:xfrm>
          <a:prstGeom prst="rect">
            <a:avLst/>
          </a:prstGeom>
          <a:noFill/>
          <a:ln>
            <a:noFill/>
          </a:ln>
        </p:spPr>
        <p:txBody>
          <a:bodyPr wrap="square" lIns="381" tIns="381" rIns="381" bIns="381" rtlCol="0" anchor="ctr">
            <a:normAutofit/>
          </a:bodyPr>
          <a:lstStyle/>
          <a:p>
            <a:pPr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4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real people and real work
</a:t>
            </a:r>
            <a:endParaRPr lang="en-US" sz="1400" dirty="0"/>
          </a:p>
          <a:p>
            <a:pPr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4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generic corporate stock imagery
</a:t>
            </a:r>
            <a:endParaRPr lang="en-US" sz="1400" dirty="0"/>
          </a:p>
          <a:p>
            <a:pPr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4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imagery to reinforce trust, clarity and local connection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475488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1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 text: [Concise description of image and meaning.]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D4A842"/>
                </a:solidFill>
                <a:latin typeface="Arial"/>
              </a:defRPr>
            </a:pPr>
            <a:r>
              <a:rPr lang="en-US" sz="800" dirty="0">
                <a:solidFill>
                  <a:srgbClr val="D4A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314432" y="6391656"/>
            <a:ext cx="10515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8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JANKE LLP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B"/>
          </a:solidFill>
          <a:ln>
            <a:solidFill>
              <a:srgbClr val="B58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9281160" y="32004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18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JANKE LLP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262872" y="612648"/>
            <a:ext cx="2167128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  <a:defRPr>
                <a:solidFill>
                  <a:srgbClr val="C9C5BD"/>
                </a:solidFill>
                <a:latin typeface="Gilroy"/>
              </a:defRPr>
            </a:pPr>
            <a:r>
              <a:rPr lang="en-US" sz="660" dirty="0">
                <a:solidFill>
                  <a:srgbClr val="C9C5BD"/>
                </a:solidFill>
                <a:latin typeface="Gilroy" pitchFamily="34" charset="0"/>
                <a:ea typeface="Arial" pitchFamily="34" charset="-122"/>
                <a:cs typeface="Arial" pitchFamily="34" charset="-120"/>
              </a:rPr>
              <a:t>Chartered Professional Accountants</a:t>
            </a:r>
            <a:endParaRPr lang="en-US" sz="660" dirty="0"/>
          </a:p>
        </p:txBody>
      </p:sp>
      <p:sp>
        <p:nvSpPr>
          <p:cNvPr id="4" name="Text 2"/>
          <p:cNvSpPr/>
          <p:nvPr/>
        </p:nvSpPr>
        <p:spPr>
          <a:xfrm>
            <a:off x="640080" y="51206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85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NEXT STEPS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804672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28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Implementation roadmap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44752"/>
            <a:ext cx="1920240" cy="27432"/>
          </a:xfrm>
          <a:prstGeom prst="rect">
            <a:avLst/>
          </a:prstGeom>
          <a:solidFill>
            <a:srgbClr val="D4A842"/>
          </a:solidFill>
          <a:ln w="12700">
            <a:solidFill>
              <a:srgbClr val="D4A842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05840" y="2852928"/>
            <a:ext cx="530352" cy="530352"/>
          </a:xfrm>
          <a:prstGeom prst="ellipse">
            <a:avLst/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79576" y="2971800"/>
            <a:ext cx="182880" cy="155448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  <a:defRPr>
                <a:solidFill>
                  <a:srgbClr val="D4A842"/>
                </a:solidFill>
                <a:latin typeface="Arial"/>
              </a:defRPr>
            </a:pPr>
            <a:r>
              <a:rPr lang="en-US" sz="1000" b="1" dirty="0">
                <a:solidFill>
                  <a:srgbClr val="D4A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370332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16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Confirm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9768" y="4096512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2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[Decision or approval]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0" y="2852928"/>
            <a:ext cx="530352" cy="530352"/>
          </a:xfrm>
          <a:prstGeom prst="ellipse">
            <a:avLst/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831336" y="2971800"/>
            <a:ext cx="182880" cy="155448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  <a:defRPr>
                <a:solidFill>
                  <a:srgbClr val="D4A842"/>
                </a:solidFill>
                <a:latin typeface="Arial"/>
              </a:defRPr>
            </a:pPr>
            <a:r>
              <a:rPr lang="en-US" sz="1000" b="1" dirty="0">
                <a:solidFill>
                  <a:srgbClr val="D4A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29000" y="370332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16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Prepare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81528" y="4096512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2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[Documents, analysis or data]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2852928"/>
            <a:ext cx="530352" cy="530352"/>
          </a:xfrm>
          <a:prstGeom prst="ellipse">
            <a:avLst/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83096" y="2971800"/>
            <a:ext cx="182880" cy="155448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  <a:defRPr>
                <a:solidFill>
                  <a:srgbClr val="D4A842"/>
                </a:solidFill>
                <a:latin typeface="Arial"/>
              </a:defRPr>
            </a:pPr>
            <a:r>
              <a:rPr lang="en-US" sz="1000" b="1" dirty="0">
                <a:solidFill>
                  <a:srgbClr val="D4A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80760" y="370332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16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Implement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33288" y="4096512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2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[Action and owner]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61120" y="2852928"/>
            <a:ext cx="530352" cy="530352"/>
          </a:xfrm>
          <a:prstGeom prst="ellipse">
            <a:avLst/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134856" y="2971800"/>
            <a:ext cx="182880" cy="155448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  <a:defRPr>
                <a:solidFill>
                  <a:srgbClr val="D4A842"/>
                </a:solidFill>
                <a:latin typeface="Arial"/>
              </a:defRPr>
            </a:pPr>
            <a:r>
              <a:rPr lang="en-US" sz="1000" b="1" dirty="0">
                <a:solidFill>
                  <a:srgbClr val="D4A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732520" y="370332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16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Review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85048" y="4096512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2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[Timing and check-in]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557784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1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roadmap practical. Show owners, timing and dependencies when the slide is client-facing.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D4A842"/>
                </a:solidFill>
                <a:latin typeface="Arial"/>
              </a:defRPr>
            </a:pPr>
            <a:r>
              <a:rPr lang="en-US" sz="800" dirty="0">
                <a:solidFill>
                  <a:srgbClr val="D4A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314432" y="6391656"/>
            <a:ext cx="10515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8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JANKE LLP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B"/>
          </a:solidFill>
          <a:ln>
            <a:solidFill>
              <a:srgbClr val="B58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9281160" y="32004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18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JANKE LLP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262872" y="612648"/>
            <a:ext cx="2167128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  <a:defRPr>
                <a:solidFill>
                  <a:srgbClr val="C9C5BD"/>
                </a:solidFill>
                <a:latin typeface="Gilroy"/>
              </a:defRPr>
            </a:pPr>
            <a:r>
              <a:rPr lang="en-US" sz="660" dirty="0">
                <a:solidFill>
                  <a:srgbClr val="C9C5BD"/>
                </a:solidFill>
                <a:latin typeface="Gilroy" pitchFamily="34" charset="0"/>
                <a:ea typeface="Arial" pitchFamily="34" charset="-122"/>
                <a:cs typeface="Arial" pitchFamily="34" charset="-120"/>
              </a:rPr>
              <a:t>Chartered Professional Accountants</a:t>
            </a:r>
            <a:endParaRPr lang="en-US" sz="660" dirty="0"/>
          </a:p>
        </p:txBody>
      </p:sp>
      <p:sp>
        <p:nvSpPr>
          <p:cNvPr id="4" name="Text 2"/>
          <p:cNvSpPr/>
          <p:nvPr/>
        </p:nvSpPr>
        <p:spPr>
          <a:xfrm>
            <a:off x="749808" y="59436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9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Client story / testimonial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" y="1828800"/>
            <a:ext cx="8869680" cy="109728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30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“[Insert a short, approved client quote that focuses on what changed or became clearer.]”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91840" y="3703320"/>
            <a:ext cx="566928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2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[Client name, title, organization, if approved]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5257800"/>
            <a:ext cx="603504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05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only with project-specific written consent and final client approval.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D4A842"/>
                </a:solidFill>
                <a:latin typeface="Arial"/>
              </a:defRPr>
            </a:pPr>
            <a:r>
              <a:rPr lang="en-US" sz="800" dirty="0">
                <a:solidFill>
                  <a:srgbClr val="D4A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314432" y="6391656"/>
            <a:ext cx="10515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8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JANKE LLP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B"/>
          </a:solidFill>
          <a:ln>
            <a:solidFill>
              <a:srgbClr val="B58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B"/>
          </a:solidFill>
          <a:ln w="12700">
            <a:solidFill>
              <a:srgbClr val="B58A2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869680" y="502920"/>
            <a:ext cx="2471166" cy="3154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207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JANKE LLP</a:t>
            </a:r>
            <a:endParaRPr lang="en-US" sz="2070" dirty="0"/>
          </a:p>
        </p:txBody>
      </p:sp>
      <p:sp>
        <p:nvSpPr>
          <p:cNvPr id="4" name="Text 2"/>
          <p:cNvSpPr/>
          <p:nvPr/>
        </p:nvSpPr>
        <p:spPr>
          <a:xfrm>
            <a:off x="8848649" y="839419"/>
            <a:ext cx="2492197" cy="1787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  <a:defRPr>
                <a:solidFill>
                  <a:srgbClr val="C9C5BD"/>
                </a:solidFill>
                <a:latin typeface="Gilroy"/>
              </a:defRPr>
            </a:pPr>
            <a:r>
              <a:rPr lang="en-US" sz="759" dirty="0">
                <a:solidFill>
                  <a:srgbClr val="C9C5BD"/>
                </a:solidFill>
                <a:latin typeface="Gilroy" pitchFamily="34" charset="0"/>
                <a:ea typeface="Arial" pitchFamily="34" charset="-122"/>
                <a:cs typeface="Arial" pitchFamily="34" charset="-120"/>
              </a:rPr>
              <a:t>Chartered Professional Accountants</a:t>
            </a:r>
            <a:endParaRPr lang="en-US" sz="759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694944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D4A842"/>
                </a:solidFill>
                <a:latin typeface="Gilroy"/>
              </a:defRPr>
            </a:pPr>
            <a:r>
              <a:rPr lang="en-US" sz="3800" b="1" dirty="0">
                <a:solidFill>
                  <a:srgbClr val="D4A842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What does better look like?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41832" y="306324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800" b="1" dirty="0">
                <a:solidFill>
                  <a:srgbClr val="F7F5F0"/>
                </a:solidFill>
                <a:latin typeface="Arial" pitchFamily="34" charset="0"/>
                <a:ea typeface="Gilroy" pitchFamily="34" charset="-122"/>
                <a:cs typeface="Gilroy" pitchFamily="34" charset="-120"/>
              </a:rPr>
              <a:t>Start the conversation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530352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  <a:defRPr>
                <a:solidFill>
                  <a:srgbClr val="F7F5F0"/>
                </a:solidFill>
                <a:latin typeface="Arial"/>
              </a:defRPr>
            </a:pPr>
            <a:r>
              <a:rPr lang="en-US" sz="13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[Presenter name]  |  [Email]  |  [Phone]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829800" y="6419088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762" tIns="762" rIns="762" bIns="762" rtlCol="0" anchor="t">
            <a:normAutofit/>
          </a:bodyPr>
          <a:lstStyle/>
          <a:p>
            <a:pPr algn="r" indent="0" marL="0">
              <a:buNone/>
              <a:defRPr>
                <a:solidFill>
                  <a:srgbClr val="D4A842"/>
                </a:solidFill>
                <a:latin typeface="Arial"/>
              </a:defRPr>
            </a:pPr>
            <a:r>
              <a:rPr lang="en-US" sz="900" b="1" dirty="0">
                <a:solidFill>
                  <a:srgbClr val="D4A842"/>
                </a:solidFill>
                <a:latin typeface="Arial" pitchFamily="34" charset="0"/>
                <a:ea typeface="Gilroy" pitchFamily="34" charset="-122"/>
                <a:cs typeface="Gilroy" pitchFamily="34" charset="-120"/>
              </a:rPr>
              <a:t>Janke LLP</a:t>
            </a:r>
            <a:endParaRPr lang="en-US" sz="900" dirty="0"/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B1B1B"/>
          </a:solidFill>
          <a:ln>
            <a:solidFill>
              <a:srgbClr val="B58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ilro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Janke LLP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Janke LLP PowerPoint Template</dc:title>
  <dc:subject>Janke LLP PowerPoint template</dc:subject>
  <dc:creator>Janke LLP</dc:creator>
  <cp:lastModifiedBy>Janke LLP</cp:lastModifiedBy>
  <cp:revision>1</cp:revision>
  <dcterms:created xsi:type="dcterms:W3CDTF">2026-07-28T20:42:20Z</dcterms:created>
  <dcterms:modified xsi:type="dcterms:W3CDTF">2026-07-28T20:42:20Z</dcterms:modified>
</cp:coreProperties>
</file>
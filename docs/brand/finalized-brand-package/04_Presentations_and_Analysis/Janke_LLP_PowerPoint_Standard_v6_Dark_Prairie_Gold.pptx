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Internally developed Janke LLP brand standards and approved conversation decisions.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Internally developed Janke LLP brand standards and approved conversation decisions.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Internally developed Janke LLP brand standards and approved conversation decisions.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Internally developed Janke LLP brand standards and approved conversation decisions.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Internally developed Janke LLP brand standards and approved conversation decisions.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Internally developed Janke LLP brand standards and approved conversation decisions.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Internally developed Janke LLP brand standards and approved conversation decisions.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Internally developed Janke LLP brand standards and approved conversation decisions.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ilroy"/>
          <a:ea typeface="Gilroy"/>
          <a:cs typeface="Gilroy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Gilroy"/>
          <a:ea typeface="Gilroy"/>
          <a:cs typeface="Gilroy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Gilroy"/>
          <a:ea typeface="Gilroy"/>
          <a:cs typeface="Gilroy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Gilroy"/>
          <a:ea typeface="Gilroy"/>
          <a:cs typeface="Gilroy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defPPr>
        <a:defRPr lang="en-US">
          <a:latin typeface="Arial"/>
          <a:ea typeface="Arial"/>
          <a:cs typeface="Arial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.png"/><Relationship Id="rId5" Type="http://schemas.openxmlformats.org/officeDocument/2006/relationships/image" Target="../media/image-1-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B"/>
          </a:solidFill>
          <a:ln>
            <a:solidFill>
              <a:srgbClr val="B5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4892040"/>
            <a:ext cx="12191695" cy="274320"/>
          </a:xfrm>
          <a:prstGeom prst="rect">
            <a:avLst/>
          </a:prstGeom>
          <a:solidFill>
            <a:srgbClr val="D4A842"/>
          </a:solidFill>
          <a:ln w="12700">
            <a:solidFill>
              <a:srgbClr val="D4A842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mnt/data/janke_logo_header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89444"/>
            <a:ext cx="1828800" cy="467032"/>
          </a:xfrm>
          <a:prstGeom prst="rect">
            <a:avLst/>
          </a:prstGeom>
          <a:ln>
            <a:solidFill/>
          </a:ln>
        </p:spPr>
      </p:pic>
      <p:sp>
        <p:nvSpPr>
          <p:cNvPr id="5" name="Text 2"/>
          <p:cNvSpPr/>
          <p:nvPr/>
        </p:nvSpPr>
        <p:spPr>
          <a:xfrm>
            <a:off x="685800" y="2011680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680" b="1" dirty="0">
                <a:solidFill>
                  <a:srgbClr val="D4A842"/>
                </a:solidFill>
                <a:latin typeface="Gilroy"/>
                <a:ea typeface="Gilroy"/>
                <a:cs typeface="Gilroy"/>
              </a:rPr>
              <a:t>PRESENTATION STANDARD</a:t>
            </a:r>
            <a:endParaRPr lang="en-US" sz="680" dirty="0"/>
          </a:p>
        </p:txBody>
      </p:sp>
      <p:sp>
        <p:nvSpPr>
          <p:cNvPr id="6" name="Text 3"/>
          <p:cNvSpPr/>
          <p:nvPr/>
        </p:nvSpPr>
        <p:spPr>
          <a:xfrm>
            <a:off x="658368" y="2331720"/>
            <a:ext cx="6035040" cy="123444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35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Clear thinking,</a:t>
            </a:r>
            <a:endParaRPr lang="en-US" sz="3500" dirty="0"/>
          </a:p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35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well presented.</a:t>
            </a:r>
            <a:endParaRPr lang="en-US" sz="3500" dirty="0"/>
          </a:p>
        </p:txBody>
      </p:sp>
      <p:sp>
        <p:nvSpPr>
          <p:cNvPr id="7" name="Text 4"/>
          <p:cNvSpPr/>
          <p:nvPr/>
        </p:nvSpPr>
        <p:spPr>
          <a:xfrm>
            <a:off x="713232" y="3822192"/>
            <a:ext cx="51206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50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Standards for Janke LLP slide decks, client presentations, proposals and internal updates.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13232" y="592531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90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Version 1.0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743200" y="59253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90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Use after brand guide approval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B"/>
          </a:solidFill>
          <a:ln>
            <a:solidFill>
              <a:srgbClr val="B5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94360" y="50292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24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Purpose and use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950" dirty="0">
                <a:solidFill>
                  <a:srgbClr val="D4A842"/>
                </a:solidFill>
                <a:latin typeface="Gilroy"/>
                <a:ea typeface="Arial"/>
                <a:cs typeface="Arial"/>
              </a:rPr>
              <a:t>Apply this standard whenever Janke LLP uses slides to inform, explain or persuade.</a:t>
            </a:r>
            <a:endParaRPr lang="en-US" sz="950" dirty="0"/>
          </a:p>
        </p:txBody>
      </p:sp>
      <p:pic>
        <p:nvPicPr>
          <p:cNvPr id="4" name="Image 0" descr="/mnt/data/janke_logo_header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406281"/>
            <a:ext cx="1508760" cy="385302"/>
          </a:xfrm>
          <a:prstGeom prst="rect">
            <a:avLst/>
          </a:prstGeom>
          <a:ln>
            <a:solidFill/>
          </a:ln>
        </p:spPr>
      </p:pic>
      <p:sp>
        <p:nvSpPr>
          <p:cNvPr id="5" name="Text 2"/>
          <p:cNvSpPr/>
          <p:nvPr/>
        </p:nvSpPr>
        <p:spPr>
          <a:xfrm>
            <a:off x="502920" y="642823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Arial"/>
              </a:defRPr>
            </a:pPr>
            <a:r>
              <a:rPr lang="en-US" sz="750" dirty="0">
                <a:solidFill>
                  <a:srgbClr val="D4A842"/>
                </a:solidFill>
                <a:latin typeface="Arial"/>
                <a:ea typeface="Arial"/>
                <a:cs typeface="Arial"/>
              </a:rPr>
              <a:t>02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960120" y="6428232"/>
            <a:ext cx="3931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9C5BD"/>
                </a:solidFill>
                <a:latin typeface="Arial"/>
              </a:defRPr>
            </a:pPr>
            <a:r>
              <a:rPr lang="en-US" sz="750" dirty="0">
                <a:solidFill>
                  <a:srgbClr val="C9C5BD"/>
                </a:solidFill>
                <a:latin typeface="Arial"/>
                <a:ea typeface="Arial"/>
                <a:cs typeface="Arial"/>
              </a:rPr>
              <a:t>Janke LLP PowerPoint Standard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685800" y="1508760"/>
            <a:ext cx="10698480" cy="749808"/>
          </a:xfrm>
          <a:prstGeom prst="roundRect">
            <a:avLst>
              <a:gd name="adj" fmla="val 3659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60120" y="170992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680" b="1" dirty="0">
                <a:solidFill>
                  <a:srgbClr val="D4A842"/>
                </a:solidFill>
                <a:latin typeface="Gilroy"/>
                <a:ea typeface="Gilroy"/>
                <a:cs typeface="Gilroy"/>
              </a:rPr>
              <a:t>USE FOR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2788920" y="1682496"/>
            <a:ext cx="7818120" cy="31089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30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Client presentations, proposal meetings, advisory discussions, training, recruitment sessions and firm updates.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2532888"/>
            <a:ext cx="10698480" cy="749808"/>
          </a:xfrm>
          <a:prstGeom prst="roundRect">
            <a:avLst>
              <a:gd name="adj" fmla="val 3659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60120" y="2734056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680" b="1" dirty="0">
                <a:solidFill>
                  <a:srgbClr val="D4A842"/>
                </a:solidFill>
                <a:latin typeface="Gilroy"/>
                <a:ea typeface="Gilroy"/>
                <a:cs typeface="Gilroy"/>
              </a:rPr>
              <a:t>PRIMARY GOAL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2788920" y="2706624"/>
            <a:ext cx="7818120" cy="31089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30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Make complex information easier to understand, not merely more decorated.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5800" y="3557016"/>
            <a:ext cx="10698480" cy="749808"/>
          </a:xfrm>
          <a:prstGeom prst="roundRect">
            <a:avLst>
              <a:gd name="adj" fmla="val 3659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60120" y="3758184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680" b="1" dirty="0">
                <a:solidFill>
                  <a:srgbClr val="D4A842"/>
                </a:solidFill>
                <a:latin typeface="Gilroy"/>
                <a:ea typeface="Gilroy"/>
                <a:cs typeface="Gilroy"/>
              </a:rPr>
              <a:t>BRAND FEEL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2788920" y="3730752"/>
            <a:ext cx="7818120" cy="31089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30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Clean, simple, modern and minimalistic - with restrained Saskatchewan and prairie cues.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5800" y="4581144"/>
            <a:ext cx="10698480" cy="749808"/>
          </a:xfrm>
          <a:prstGeom prst="roundRect">
            <a:avLst>
              <a:gd name="adj" fmla="val 3659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60120" y="4782312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680" b="1" dirty="0">
                <a:solidFill>
                  <a:srgbClr val="D4A842"/>
                </a:solidFill>
                <a:latin typeface="Gilroy"/>
                <a:ea typeface="Gilroy"/>
                <a:cs typeface="Gilroy"/>
              </a:rPr>
              <a:t>APPROVAL</a:t>
            </a:r>
            <a:endParaRPr lang="en-US" sz="680" dirty="0"/>
          </a:p>
        </p:txBody>
      </p:sp>
      <p:sp>
        <p:nvSpPr>
          <p:cNvPr id="18" name="Text 15"/>
          <p:cNvSpPr/>
          <p:nvPr/>
        </p:nvSpPr>
        <p:spPr>
          <a:xfrm>
            <a:off x="2788920" y="4754880"/>
            <a:ext cx="7818120" cy="31089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30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Routine decks may be approved by the marketing lead. Technical or sensitive content requires subject-matter review.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B"/>
          </a:solidFill>
          <a:ln>
            <a:solidFill>
              <a:srgbClr val="B5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94360" y="50292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24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Recommended story arc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950" dirty="0">
                <a:solidFill>
                  <a:srgbClr val="D4A842"/>
                </a:solidFill>
                <a:latin typeface="Gilroy"/>
                <a:ea typeface="Arial"/>
                <a:cs typeface="Arial"/>
              </a:rPr>
              <a:t>Most decks should move from the client situation to a clearer next step.</a:t>
            </a:r>
            <a:endParaRPr lang="en-US" sz="950" dirty="0"/>
          </a:p>
        </p:txBody>
      </p:sp>
      <p:pic>
        <p:nvPicPr>
          <p:cNvPr id="4" name="Image 0" descr="/mnt/data/janke_logo_header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406281"/>
            <a:ext cx="1508760" cy="385302"/>
          </a:xfrm>
          <a:prstGeom prst="rect">
            <a:avLst/>
          </a:prstGeom>
          <a:ln>
            <a:solidFill/>
          </a:ln>
        </p:spPr>
      </p:pic>
      <p:sp>
        <p:nvSpPr>
          <p:cNvPr id="5" name="Text 2"/>
          <p:cNvSpPr/>
          <p:nvPr/>
        </p:nvSpPr>
        <p:spPr>
          <a:xfrm>
            <a:off x="502920" y="642823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Arial"/>
              </a:defRPr>
            </a:pPr>
            <a:r>
              <a:rPr lang="en-US" sz="750" dirty="0">
                <a:solidFill>
                  <a:srgbClr val="D4A842"/>
                </a:solidFill>
                <a:latin typeface="Arial"/>
                <a:ea typeface="Arial"/>
                <a:cs typeface="Arial"/>
              </a:rPr>
              <a:t>03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960120" y="6428232"/>
            <a:ext cx="3931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9C5BD"/>
                </a:solidFill>
                <a:latin typeface="Arial"/>
              </a:defRPr>
            </a:pPr>
            <a:r>
              <a:rPr lang="en-US" sz="750" dirty="0">
                <a:solidFill>
                  <a:srgbClr val="C9C5BD"/>
                </a:solidFill>
                <a:latin typeface="Arial"/>
                <a:ea typeface="Arial"/>
                <a:cs typeface="Arial"/>
              </a:rPr>
              <a:t>Janke LLP PowerPoint Standard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640080" y="1874520"/>
            <a:ext cx="2011680" cy="2697480"/>
          </a:xfrm>
          <a:prstGeom prst="roundRect">
            <a:avLst>
              <a:gd name="adj" fmla="val 1364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41248" y="2121408"/>
            <a:ext cx="384048" cy="384048"/>
          </a:xfrm>
          <a:prstGeom prst="ellipse">
            <a:avLst/>
          </a:prstGeom>
          <a:solidFill>
            <a:srgbClr val="D4A842"/>
          </a:solidFill>
          <a:ln w="12700">
            <a:solidFill>
              <a:srgbClr val="D4A842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41248" y="2203704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D4A842"/>
                </a:solidFill>
                <a:latin typeface="Arial"/>
              </a:defRPr>
            </a:pPr>
            <a:r>
              <a:rPr lang="en-US" sz="800" b="1" dirty="0">
                <a:solidFill>
                  <a:srgbClr val="D4A842"/>
                </a:solidFill>
                <a:latin typeface="Arial"/>
                <a:ea typeface="Arial"/>
                <a:cs typeface="Arial"/>
              </a:rPr>
              <a:t>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41248" y="274320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500" b="1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Situation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41248" y="3182112"/>
            <a:ext cx="160020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10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What is happening now?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944368" y="1874520"/>
            <a:ext cx="2011680" cy="2697480"/>
          </a:xfrm>
          <a:prstGeom prst="roundRect">
            <a:avLst>
              <a:gd name="adj" fmla="val 1364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3145536" y="2121408"/>
            <a:ext cx="384048" cy="384048"/>
          </a:xfrm>
          <a:prstGeom prst="ellipse">
            <a:avLst/>
          </a:prstGeom>
          <a:solidFill>
            <a:srgbClr val="D4A842"/>
          </a:solidFill>
          <a:ln w="12700">
            <a:solidFill>
              <a:srgbClr val="D4A84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145536" y="2203704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D4A842"/>
                </a:solidFill>
                <a:latin typeface="Arial"/>
              </a:defRPr>
            </a:pPr>
            <a:r>
              <a:rPr lang="en-US" sz="800" b="1" dirty="0">
                <a:solidFill>
                  <a:srgbClr val="D4A842"/>
                </a:solidFill>
                <a:latin typeface="Arial"/>
                <a:ea typeface="Arial"/>
                <a:cs typeface="Arial"/>
              </a:rPr>
              <a:t>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145536" y="274320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1500" b="1" dirty="0">
                <a:solidFill>
                  <a:srgbClr val="D4A842"/>
                </a:solidFill>
                <a:latin typeface="Gilroy"/>
                <a:ea typeface="Arial"/>
                <a:cs typeface="Arial"/>
              </a:rPr>
              <a:t>Opportunity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145536" y="3182112"/>
            <a:ext cx="160020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10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What could improve?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248656" y="1874520"/>
            <a:ext cx="2011680" cy="2697480"/>
          </a:xfrm>
          <a:prstGeom prst="roundRect">
            <a:avLst>
              <a:gd name="adj" fmla="val 1364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5449824" y="2121408"/>
            <a:ext cx="384048" cy="384048"/>
          </a:xfrm>
          <a:prstGeom prst="ellipse">
            <a:avLst/>
          </a:prstGeom>
          <a:solidFill>
            <a:srgbClr val="D4A842"/>
          </a:solidFill>
          <a:ln w="12700">
            <a:solidFill>
              <a:srgbClr val="D4A842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449824" y="2203704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D4A842"/>
                </a:solidFill>
                <a:latin typeface="Arial"/>
              </a:defRPr>
            </a:pPr>
            <a:r>
              <a:rPr lang="en-US" sz="800" b="1" dirty="0">
                <a:solidFill>
                  <a:srgbClr val="D4A842"/>
                </a:solidFill>
                <a:latin typeface="Arial"/>
                <a:ea typeface="Arial"/>
                <a:cs typeface="Arial"/>
              </a:rPr>
              <a:t>3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449824" y="274320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500" b="1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Options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449824" y="3182112"/>
            <a:ext cx="160020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10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What are the practical paths?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552944" y="1874520"/>
            <a:ext cx="2011680" cy="2697480"/>
          </a:xfrm>
          <a:prstGeom prst="roundRect">
            <a:avLst>
              <a:gd name="adj" fmla="val 1364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7754112" y="2121408"/>
            <a:ext cx="384048" cy="384048"/>
          </a:xfrm>
          <a:prstGeom prst="ellipse">
            <a:avLst/>
          </a:prstGeom>
          <a:solidFill>
            <a:srgbClr val="D4A842"/>
          </a:solidFill>
          <a:ln w="12700">
            <a:solidFill>
              <a:srgbClr val="D4A842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754112" y="2203704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D4A842"/>
                </a:solidFill>
                <a:latin typeface="Arial"/>
              </a:defRPr>
            </a:pPr>
            <a:r>
              <a:rPr lang="en-US" sz="800" b="1" dirty="0">
                <a:solidFill>
                  <a:srgbClr val="D4A842"/>
                </a:solidFill>
                <a:latin typeface="Arial"/>
                <a:ea typeface="Arial"/>
                <a:cs typeface="Arial"/>
              </a:rPr>
              <a:t>4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754112" y="274320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500" b="1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Recommendation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754112" y="3182112"/>
            <a:ext cx="160020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10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What do we advise, and why?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857232" y="1874520"/>
            <a:ext cx="2011680" cy="2697480"/>
          </a:xfrm>
          <a:prstGeom prst="roundRect">
            <a:avLst>
              <a:gd name="adj" fmla="val 1364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10058400" y="2121408"/>
            <a:ext cx="384048" cy="384048"/>
          </a:xfrm>
          <a:prstGeom prst="ellipse">
            <a:avLst/>
          </a:prstGeom>
          <a:solidFill>
            <a:srgbClr val="D4A842"/>
          </a:solidFill>
          <a:ln w="12700">
            <a:solidFill>
              <a:srgbClr val="D4A842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0058400" y="2203704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D4A842"/>
                </a:solidFill>
                <a:latin typeface="Arial"/>
              </a:defRPr>
            </a:pPr>
            <a:r>
              <a:rPr lang="en-US" sz="800" b="1" dirty="0">
                <a:solidFill>
                  <a:srgbClr val="D4A842"/>
                </a:solidFill>
                <a:latin typeface="Arial"/>
                <a:ea typeface="Arial"/>
                <a:cs typeface="Arial"/>
              </a:rPr>
              <a:t>5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0058400" y="274320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500" b="1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Action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0058400" y="3182112"/>
            <a:ext cx="160020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10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What happens next?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960120" y="5394960"/>
            <a:ext cx="9966960" cy="402336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350" b="1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Avoid decks that start with Janke LLP credentials before the audience understands the decision in front of them.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B"/>
          </a:solidFill>
          <a:ln>
            <a:solidFill>
              <a:srgbClr val="B5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94360" y="50292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24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Layout system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950" dirty="0">
                <a:solidFill>
                  <a:srgbClr val="D4A842"/>
                </a:solidFill>
                <a:latin typeface="Gilroy"/>
                <a:ea typeface="Arial"/>
                <a:cs typeface="Arial"/>
              </a:rPr>
              <a:t>Use one clear idea per slide, consistent margins and generous whitespace.</a:t>
            </a:r>
            <a:endParaRPr lang="en-US" sz="950" dirty="0"/>
          </a:p>
        </p:txBody>
      </p:sp>
      <p:pic>
        <p:nvPicPr>
          <p:cNvPr id="4" name="Image 0" descr="/mnt/data/janke_logo_header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406281"/>
            <a:ext cx="1508760" cy="385302"/>
          </a:xfrm>
          <a:prstGeom prst="rect">
            <a:avLst/>
          </a:prstGeom>
          <a:ln>
            <a:solidFill/>
          </a:ln>
        </p:spPr>
      </p:pic>
      <p:sp>
        <p:nvSpPr>
          <p:cNvPr id="5" name="Text 2"/>
          <p:cNvSpPr/>
          <p:nvPr/>
        </p:nvSpPr>
        <p:spPr>
          <a:xfrm>
            <a:off x="502920" y="642823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Arial"/>
              </a:defRPr>
            </a:pPr>
            <a:r>
              <a:rPr lang="en-US" sz="750" dirty="0">
                <a:solidFill>
                  <a:srgbClr val="D4A842"/>
                </a:solidFill>
                <a:latin typeface="Arial"/>
                <a:ea typeface="Arial"/>
                <a:cs typeface="Arial"/>
              </a:rPr>
              <a:t>04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960120" y="6428232"/>
            <a:ext cx="3931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9C5BD"/>
                </a:solidFill>
                <a:latin typeface="Arial"/>
              </a:defRPr>
            </a:pPr>
            <a:r>
              <a:rPr lang="en-US" sz="750" dirty="0">
                <a:solidFill>
                  <a:srgbClr val="C9C5BD"/>
                </a:solidFill>
                <a:latin typeface="Arial"/>
                <a:ea typeface="Arial"/>
                <a:cs typeface="Arial"/>
              </a:rPr>
              <a:t>Janke LLP PowerPoint Standard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4937760" cy="4206240"/>
          </a:xfrm>
          <a:prstGeom prst="roundRect">
            <a:avLst>
              <a:gd name="adj" fmla="val 652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51560" y="173736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600" b="1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Standard slide anatomy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78992" y="228600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5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1. Short title at top left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78992" y="274320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5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2. One message or decision point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78992" y="320040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5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3. Main visual, table or diagram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78992" y="365760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5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4. Concise support copy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78992" y="411480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5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5. Small footer when useful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0" y="1417320"/>
            <a:ext cx="4937760" cy="4206240"/>
          </a:xfrm>
          <a:prstGeom prst="roundRect">
            <a:avLst>
              <a:gd name="adj" fmla="val 652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720840" y="173736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600" b="1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Minimum standards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748272" y="2267712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5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• 16:9 widescreen unless there is a clear reason otherwise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748272" y="2724912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5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• Title: 28-40 pt equivalent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748272" y="3182112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5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• Body: usually 18-24 pt equivalent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748272" y="3639312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5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• No dense paragraph blocks or spreadsheet dumps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748272" y="4096512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5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• Tables must be readable at presentation distance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B"/>
          </a:solidFill>
          <a:ln>
            <a:solidFill>
              <a:srgbClr val="B5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>
                <a:solidFill>
                  <a:srgbClr val="D4A842"/>
                </a:solidFill>
                <a:latin typeface="Gilroy"/>
              </a:defRPr>
            </a:pPr>
            <a:r>
              <a:rPr sz="2800" b="0">
                <a:solidFill>
                  <a:srgbClr val="D4A842"/>
                </a:solidFill>
                <a:latin typeface="Gilroy"/>
              </a:rPr>
              <a:t>Typography and palette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>
                <a:solidFill>
                  <a:srgbClr val="D4A842"/>
                </a:solidFill>
                <a:latin typeface="Gilroy"/>
              </a:defRPr>
            </a:pPr>
            <a:r>
              <a:rPr sz="1400" b="0">
                <a:solidFill>
                  <a:srgbClr val="D4A842"/>
                </a:solidFill>
                <a:latin typeface="Gilroy"/>
              </a:rPr>
              <a:t>Dark-room-first: black carries the system; prairie gold headlines create focus; white body text keeps content readable.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4389120"/>
          </a:xfrm>
          <a:prstGeom prst="roundRect">
            <a:avLst/>
          </a:prstGeom>
          <a:solidFill>
            <a:srgbClr val="1B1B1B"/>
          </a:solidFill>
          <a:ln>
            <a:solidFill>
              <a:srgbClr val="B5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>
                <a:solidFill>
                  <a:srgbClr val="F7F5F0"/>
                </a:solidFill>
                <a:latin typeface="Arial"/>
              </a:defRPr>
            </a:pPr>
            <a:r>
              <a:rPr sz="1800" b="1">
                <a:solidFill>
                  <a:srgbClr val="F7F5F0"/>
                </a:solidFill>
                <a:latin typeface="Arial"/>
              </a:rPr>
              <a:t>Type hierarchy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4028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>
                <a:solidFill>
                  <a:srgbClr val="D4A842"/>
                </a:solidFill>
                <a:latin typeface="Gilroy"/>
              </a:defRPr>
            </a:pPr>
            <a:r>
              <a:rPr sz="800" b="1">
                <a:solidFill>
                  <a:srgbClr val="D4A842"/>
                </a:solidFill>
                <a:latin typeface="Gilroy"/>
              </a:rPr>
              <a:t>HEADINGS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20370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>
                <a:solidFill>
                  <a:srgbClr val="F7F5F0"/>
                </a:solidFill>
                <a:latin typeface="Arial"/>
              </a:defRPr>
            </a:pPr>
            <a:r>
              <a:rPr sz="1300" b="1">
                <a:solidFill>
                  <a:srgbClr val="F7F5F0"/>
                </a:solidFill>
                <a:latin typeface="Arial"/>
              </a:rPr>
              <a:t>Gilroy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496312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>
                <a:solidFill>
                  <a:srgbClr val="F7F5F0"/>
                </a:solidFill>
                <a:latin typeface="Arial"/>
              </a:defRPr>
            </a:pPr>
            <a:r>
              <a:rPr sz="1000" b="0">
                <a:solidFill>
                  <a:srgbClr val="F7F5F0"/>
                </a:solidFill>
                <a:latin typeface="Arial"/>
              </a:rPr>
              <a:t>Titles, section dividers, major slide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9184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>
                <a:solidFill>
                  <a:srgbClr val="D4A842"/>
                </a:solidFill>
                <a:latin typeface="Gilroy"/>
              </a:defRPr>
            </a:pPr>
            <a:r>
              <a:rPr sz="800" b="1">
                <a:solidFill>
                  <a:srgbClr val="D4A842"/>
                </a:solidFill>
                <a:latin typeface="Gilroy"/>
              </a:rPr>
              <a:t>BODY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25526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>
                <a:solidFill>
                  <a:srgbClr val="F7F5F0"/>
                </a:solidFill>
                <a:latin typeface="Arial"/>
              </a:defRPr>
            </a:pPr>
            <a:r>
              <a:rPr sz="1300" b="1">
                <a:solidFill>
                  <a:srgbClr val="F7F5F0"/>
                </a:solidFill>
                <a:latin typeface="Arial"/>
              </a:rPr>
              <a:t>Arial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547872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>
                <a:solidFill>
                  <a:srgbClr val="F7F5F0"/>
                </a:solidFill>
                <a:latin typeface="Arial"/>
              </a:defRPr>
            </a:pPr>
            <a:r>
              <a:rPr sz="1000" b="0">
                <a:solidFill>
                  <a:srgbClr val="F7F5F0"/>
                </a:solidFill>
                <a:latin typeface="Arial"/>
              </a:rPr>
              <a:t>Paragraphs, tables, captions, notes and dense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34340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>
                <a:solidFill>
                  <a:srgbClr val="D4A842"/>
                </a:solidFill>
                <a:latin typeface="Gilroy"/>
              </a:defRPr>
            </a:pPr>
            <a:r>
              <a:rPr sz="800" b="1">
                <a:solidFill>
                  <a:srgbClr val="D4A842"/>
                </a:solidFill>
                <a:latin typeface="Gilroy"/>
              </a:rPr>
              <a:t>EMPHASIS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30682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>
                <a:solidFill>
                  <a:srgbClr val="F7F5F0"/>
                </a:solidFill>
                <a:latin typeface="Arial"/>
              </a:defRPr>
            </a:pPr>
            <a:r>
              <a:rPr sz="1300" b="1">
                <a:solidFill>
                  <a:srgbClr val="F7F5F0"/>
                </a:solidFill>
                <a:latin typeface="Arial"/>
              </a:rPr>
              <a:t>Use restraint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599432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>
                <a:solidFill>
                  <a:srgbClr val="F7F5F0"/>
                </a:solidFill>
                <a:latin typeface="Arial"/>
              </a:defRPr>
            </a:pPr>
            <a:r>
              <a:rPr sz="1000" b="0">
                <a:solidFill>
                  <a:srgbClr val="F7F5F0"/>
                </a:solidFill>
                <a:latin typeface="Arial"/>
              </a:rPr>
              <a:t>Bold first. Use gold sparingly for navigation, highlights and key markers.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417320"/>
            <a:ext cx="5166360" cy="4389120"/>
          </a:xfrm>
          <a:prstGeom prst="roundRect">
            <a:avLst/>
          </a:prstGeom>
          <a:solidFill>
            <a:srgbClr val="1B1B1B"/>
          </a:solidFill>
          <a:ln>
            <a:solidFill>
              <a:srgbClr val="B5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69164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>
                <a:solidFill>
                  <a:srgbClr val="F7F5F0"/>
                </a:solidFill>
                <a:latin typeface="Arial"/>
              </a:defRPr>
            </a:pPr>
            <a:r>
              <a:rPr sz="1800" b="1">
                <a:solidFill>
                  <a:srgbClr val="F7F5F0"/>
                </a:solidFill>
                <a:latin typeface="Arial"/>
              </a:rPr>
              <a:t>Core palette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0" y="2240280"/>
            <a:ext cx="502920" cy="256032"/>
          </a:xfrm>
          <a:prstGeom prst="rect">
            <a:avLst/>
          </a:prstGeom>
          <a:solidFill>
            <a:srgbClr val="D4A842"/>
          </a:solidFill>
          <a:ln>
            <a:solidFill>
              <a:srgbClr val="D4A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2221992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>
                <a:solidFill>
                  <a:srgbClr val="F7F5F0"/>
                </a:solidFill>
                <a:latin typeface="Arial"/>
              </a:defRPr>
            </a:pPr>
            <a:r>
              <a:rPr sz="1100" b="1">
                <a:solidFill>
                  <a:srgbClr val="F7F5F0"/>
                </a:solidFill>
                <a:latin typeface="Arial"/>
              </a:rPr>
              <a:t>Presentation Black - #0F0F0F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459736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>
                <a:solidFill>
                  <a:srgbClr val="D4A842"/>
                </a:solidFill>
                <a:latin typeface="Gilroy"/>
              </a:defRPr>
            </a:pPr>
            <a:r>
              <a:rPr sz="900" b="0">
                <a:solidFill>
                  <a:srgbClr val="D4A842"/>
                </a:solidFill>
                <a:latin typeface="Gilroy"/>
              </a:rPr>
              <a:t>RGB 15 15 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2862072"/>
            <a:ext cx="502920" cy="256032"/>
          </a:xfrm>
          <a:prstGeom prst="rect">
            <a:avLst/>
          </a:prstGeom>
          <a:solidFill>
            <a:srgbClr val="D4A842"/>
          </a:solidFill>
          <a:ln>
            <a:solidFill>
              <a:srgbClr val="D4A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2843784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>
                <a:solidFill>
                  <a:srgbClr val="F7F5F0"/>
                </a:solidFill>
                <a:latin typeface="Arial"/>
              </a:defRPr>
            </a:pPr>
            <a:r>
              <a:rPr sz="1100" b="1">
                <a:solidFill>
                  <a:srgbClr val="F7F5F0"/>
                </a:solidFill>
                <a:latin typeface="Arial"/>
              </a:rPr>
              <a:t>White - #FFFFFF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3081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>
                <a:solidFill>
                  <a:srgbClr val="D4A842"/>
                </a:solidFill>
                <a:latin typeface="Gilroy"/>
              </a:defRPr>
            </a:pPr>
            <a:r>
              <a:rPr sz="900" b="0">
                <a:solidFill>
                  <a:srgbClr val="D4A842"/>
                </a:solidFill>
                <a:latin typeface="Gilroy"/>
              </a:rPr>
              <a:t>RGB 255 255 255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0840" y="3483864"/>
            <a:ext cx="502920" cy="256032"/>
          </a:xfrm>
          <a:prstGeom prst="rect">
            <a:avLst/>
          </a:prstGeom>
          <a:solidFill>
            <a:srgbClr val="D4A842"/>
          </a:solidFill>
          <a:ln>
            <a:solidFill>
              <a:srgbClr val="D4A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3465576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>
                <a:solidFill>
                  <a:srgbClr val="F7F5F0"/>
                </a:solidFill>
                <a:latin typeface="Arial"/>
              </a:defRPr>
            </a:pPr>
            <a:r>
              <a:rPr sz="1100" b="1">
                <a:solidFill>
                  <a:srgbClr val="F7F5F0"/>
                </a:solidFill>
                <a:latin typeface="Arial"/>
              </a:rPr>
              <a:t>Bright Prairie Gold - #D4A842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703320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>
                <a:solidFill>
                  <a:srgbClr val="D4A842"/>
                </a:solidFill>
                <a:latin typeface="Gilroy"/>
              </a:defRPr>
            </a:pPr>
            <a:r>
              <a:rPr sz="900" b="0">
                <a:solidFill>
                  <a:srgbClr val="D4A842"/>
                </a:solidFill>
                <a:latin typeface="Gilroy"/>
              </a:rPr>
              <a:t>RGB 212 168 66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4105656"/>
            <a:ext cx="502920" cy="256032"/>
          </a:xfrm>
          <a:prstGeom prst="rect">
            <a:avLst/>
          </a:prstGeom>
          <a:solidFill>
            <a:srgbClr val="D4A842"/>
          </a:solidFill>
          <a:ln>
            <a:solidFill>
              <a:srgbClr val="D4A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4087368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>
                <a:solidFill>
                  <a:srgbClr val="F7F5F0"/>
                </a:solidFill>
                <a:latin typeface="Arial"/>
              </a:defRPr>
            </a:pPr>
            <a:r>
              <a:rPr sz="1100" b="1">
                <a:solidFill>
                  <a:srgbClr val="F7F5F0"/>
                </a:solidFill>
                <a:latin typeface="Arial"/>
              </a:rPr>
              <a:t>Soft White - #F7F5F0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32511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>
                <a:solidFill>
                  <a:srgbClr val="D4A842"/>
                </a:solidFill>
                <a:latin typeface="Gilroy"/>
              </a:defRPr>
            </a:pPr>
            <a:r>
              <a:rPr sz="900" b="0">
                <a:solidFill>
                  <a:srgbClr val="D4A842"/>
                </a:solidFill>
                <a:latin typeface="Gilroy"/>
              </a:rPr>
              <a:t>RGB 247 245 240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0" y="4727448"/>
            <a:ext cx="502920" cy="256032"/>
          </a:xfrm>
          <a:prstGeom prst="rect">
            <a:avLst/>
          </a:prstGeom>
          <a:solidFill>
            <a:srgbClr val="D4A842"/>
          </a:solidFill>
          <a:ln>
            <a:solidFill>
              <a:srgbClr val="D4A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60920" y="470916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>
                <a:solidFill>
                  <a:srgbClr val="F7F5F0"/>
                </a:solidFill>
                <a:latin typeface="Arial"/>
              </a:defRPr>
            </a:pPr>
            <a:r>
              <a:rPr sz="1100" b="1">
                <a:solidFill>
                  <a:srgbClr val="F7F5F0"/>
                </a:solidFill>
                <a:latin typeface="Arial"/>
              </a:rPr>
              <a:t>Stone Grey - #C9C5BD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4946904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>
                <a:solidFill>
                  <a:srgbClr val="D4A842"/>
                </a:solidFill>
                <a:latin typeface="Gilroy"/>
              </a:defRPr>
            </a:pPr>
            <a:r>
              <a:rPr sz="900" b="0">
                <a:solidFill>
                  <a:srgbClr val="D4A842"/>
                </a:solidFill>
                <a:latin typeface="Gilroy"/>
              </a:rPr>
              <a:t>RGB 201 197 189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34924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>
                <a:solidFill>
                  <a:srgbClr val="F7F5F0"/>
                </a:solidFill>
                <a:latin typeface="Arial"/>
              </a:defRPr>
            </a:pPr>
            <a:r>
              <a:rPr sz="1000" b="0">
                <a:solidFill>
                  <a:srgbClr val="F7F5F0"/>
                </a:solidFill>
                <a:latin typeface="Arial"/>
              </a:rPr>
              <a:t>Primary presentation treatment: black background, prairie gold headlines, white body text. Use gold for focus, not decoration.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>
                <a:solidFill>
                  <a:srgbClr val="D4A842"/>
                </a:solidFill>
                <a:latin typeface="Arial"/>
              </a:defRPr>
            </a:pPr>
            <a:r>
              <a:rPr sz="700" b="0">
                <a:solidFill>
                  <a:srgbClr val="D4A842"/>
                </a:solidFill>
                <a:latin typeface="Arial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6446520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>
                <a:solidFill>
                  <a:srgbClr val="C9C5BD"/>
                </a:solidFill>
                <a:latin typeface="Arial"/>
              </a:defRPr>
            </a:pPr>
            <a:r>
              <a:rPr sz="700" b="0">
                <a:solidFill>
                  <a:srgbClr val="C9C5BD"/>
                </a:solidFill>
                <a:latin typeface="Arial"/>
              </a:rPr>
              <a:t>Janke LLP PowerPoint Standard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0" y="411480"/>
            <a:ext cx="1600200" cy="4086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B"/>
          </a:solidFill>
          <a:ln>
            <a:solidFill>
              <a:srgbClr val="B5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94360" y="50292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24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Visual content rules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950" dirty="0">
                <a:solidFill>
                  <a:srgbClr val="D4A842"/>
                </a:solidFill>
                <a:latin typeface="Gilroy"/>
                <a:ea typeface="Arial"/>
                <a:cs typeface="Arial"/>
              </a:rPr>
              <a:t>Use visuals to clarify decisions, not as decoration for decoration’s sake.</a:t>
            </a:r>
            <a:endParaRPr lang="en-US" sz="950" dirty="0"/>
          </a:p>
        </p:txBody>
      </p:sp>
      <p:pic>
        <p:nvPicPr>
          <p:cNvPr id="4" name="Image 0" descr="/mnt/data/janke_logo_header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406281"/>
            <a:ext cx="1508760" cy="385302"/>
          </a:xfrm>
          <a:prstGeom prst="rect">
            <a:avLst/>
          </a:prstGeom>
          <a:ln>
            <a:solidFill/>
          </a:ln>
        </p:spPr>
      </p:pic>
      <p:sp>
        <p:nvSpPr>
          <p:cNvPr id="5" name="Text 2"/>
          <p:cNvSpPr/>
          <p:nvPr/>
        </p:nvSpPr>
        <p:spPr>
          <a:xfrm>
            <a:off x="502920" y="642823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Arial"/>
              </a:defRPr>
            </a:pPr>
            <a:r>
              <a:rPr lang="en-US" sz="750" dirty="0">
                <a:solidFill>
                  <a:srgbClr val="D4A842"/>
                </a:solidFill>
                <a:latin typeface="Arial"/>
                <a:ea typeface="Arial"/>
                <a:cs typeface="Arial"/>
              </a:rPr>
              <a:t>06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960120" y="6428232"/>
            <a:ext cx="3931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9C5BD"/>
                </a:solidFill>
                <a:latin typeface="Arial"/>
              </a:defRPr>
            </a:pPr>
            <a:r>
              <a:rPr lang="en-US" sz="750" dirty="0">
                <a:solidFill>
                  <a:srgbClr val="C9C5BD"/>
                </a:solidFill>
                <a:latin typeface="Arial"/>
                <a:ea typeface="Arial"/>
                <a:cs typeface="Arial"/>
              </a:rPr>
              <a:t>Janke LLP PowerPoint Standard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731520" y="1508760"/>
            <a:ext cx="5074920" cy="1600200"/>
          </a:xfrm>
          <a:prstGeom prst="roundRect">
            <a:avLst>
              <a:gd name="adj" fmla="val 1714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51560" y="176479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680" b="1" dirty="0">
                <a:solidFill>
                  <a:srgbClr val="D4A842"/>
                </a:solidFill>
                <a:latin typeface="Gilroy"/>
                <a:ea typeface="Gilroy"/>
                <a:cs typeface="Gilroy"/>
              </a:rPr>
              <a:t>PHOTOGRAPHY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1051560" y="2130552"/>
            <a:ext cx="4251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5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Use real Janke LLP people, clients, work settings and Saskatchewan context where possible. Avoid generic stock imagery.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1508760"/>
            <a:ext cx="5074920" cy="1600200"/>
          </a:xfrm>
          <a:prstGeom prst="roundRect">
            <a:avLst>
              <a:gd name="adj" fmla="val 1714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629400" y="176479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680" b="1" dirty="0">
                <a:solidFill>
                  <a:srgbClr val="D4A842"/>
                </a:solidFill>
                <a:latin typeface="Gilroy"/>
                <a:ea typeface="Gilroy"/>
                <a:cs typeface="Gilroy"/>
              </a:rPr>
              <a:t>CHARTS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6629400" y="2130552"/>
            <a:ext cx="4251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5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Lead with the takeaway in the title. Simplify axes and labels. Show only the data needed for the decision.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31520" y="3657600"/>
            <a:ext cx="5074920" cy="1600200"/>
          </a:xfrm>
          <a:prstGeom prst="roundRect">
            <a:avLst>
              <a:gd name="adj" fmla="val 1714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051560" y="391363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680" b="1" dirty="0">
                <a:solidFill>
                  <a:srgbClr val="D4A842"/>
                </a:solidFill>
                <a:latin typeface="Gilroy"/>
                <a:ea typeface="Gilroy"/>
                <a:cs typeface="Gilroy"/>
              </a:rPr>
              <a:t>TABLES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1051560" y="4279392"/>
            <a:ext cx="4251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5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Use tables sparingly. If it cannot be read comfortably, split it, summarize it or move detail to an appendix.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309360" y="3657600"/>
            <a:ext cx="5074920" cy="1600200"/>
          </a:xfrm>
          <a:prstGeom prst="roundRect">
            <a:avLst>
              <a:gd name="adj" fmla="val 1714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629400" y="391363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680" b="1" dirty="0">
                <a:solidFill>
                  <a:srgbClr val="D4A842"/>
                </a:solidFill>
                <a:latin typeface="Gilroy"/>
                <a:ea typeface="Gilroy"/>
                <a:cs typeface="Gilroy"/>
              </a:rPr>
              <a:t>ICONS</a:t>
            </a:r>
            <a:endParaRPr lang="en-US" sz="680" dirty="0"/>
          </a:p>
        </p:txBody>
      </p:sp>
      <p:sp>
        <p:nvSpPr>
          <p:cNvPr id="18" name="Text 15"/>
          <p:cNvSpPr/>
          <p:nvPr/>
        </p:nvSpPr>
        <p:spPr>
          <a:xfrm>
            <a:off x="6629400" y="4279392"/>
            <a:ext cx="4251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5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Use simple line icons in one style. Icons should support meaning, not replace clear words.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B"/>
          </a:solidFill>
          <a:ln>
            <a:solidFill>
              <a:srgbClr val="B5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94360" y="50292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24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Standard deck types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950" dirty="0">
                <a:solidFill>
                  <a:srgbClr val="D4A842"/>
                </a:solidFill>
                <a:latin typeface="Gilroy"/>
                <a:ea typeface="Arial"/>
                <a:cs typeface="Arial"/>
              </a:rPr>
              <a:t>Start with the closest approved structure, then adapt only what the audience needs.</a:t>
            </a:r>
            <a:endParaRPr lang="en-US" sz="950" dirty="0"/>
          </a:p>
        </p:txBody>
      </p:sp>
      <p:pic>
        <p:nvPicPr>
          <p:cNvPr id="4" name="Image 0" descr="/mnt/data/janke_logo_header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406281"/>
            <a:ext cx="1508760" cy="385302"/>
          </a:xfrm>
          <a:prstGeom prst="rect">
            <a:avLst/>
          </a:prstGeom>
          <a:ln>
            <a:solidFill/>
          </a:ln>
        </p:spPr>
      </p:pic>
      <p:sp>
        <p:nvSpPr>
          <p:cNvPr id="5" name="Text 2"/>
          <p:cNvSpPr/>
          <p:nvPr/>
        </p:nvSpPr>
        <p:spPr>
          <a:xfrm>
            <a:off x="502920" y="642823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Arial"/>
              </a:defRPr>
            </a:pPr>
            <a:r>
              <a:rPr lang="en-US" sz="750" dirty="0">
                <a:solidFill>
                  <a:srgbClr val="D4A842"/>
                </a:solidFill>
                <a:latin typeface="Arial"/>
                <a:ea typeface="Arial"/>
                <a:cs typeface="Arial"/>
              </a:rPr>
              <a:t>07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960120" y="6428232"/>
            <a:ext cx="3931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9C5BD"/>
                </a:solidFill>
                <a:latin typeface="Arial"/>
              </a:defRPr>
            </a:pPr>
            <a:r>
              <a:rPr lang="en-US" sz="750" dirty="0">
                <a:solidFill>
                  <a:srgbClr val="C9C5BD"/>
                </a:solidFill>
                <a:latin typeface="Arial"/>
                <a:ea typeface="Arial"/>
                <a:cs typeface="Arial"/>
              </a:rPr>
              <a:t>Janke LLP PowerPoint Standard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868680" y="1353312"/>
            <a:ext cx="109728" cy="512064"/>
          </a:xfrm>
          <a:prstGeom prst="rect">
            <a:avLst/>
          </a:prstGeom>
          <a:solidFill>
            <a:srgbClr val="D4A842"/>
          </a:solidFill>
          <a:ln w="12700">
            <a:solidFill>
              <a:srgbClr val="D4A842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143000" y="139903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1350" b="1" dirty="0">
                <a:solidFill>
                  <a:srgbClr val="D4A842"/>
                </a:solidFill>
                <a:latin typeface="Gilroy"/>
                <a:ea typeface="Arial"/>
                <a:cs typeface="Arial"/>
              </a:rPr>
              <a:t>Proposal meeting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520440" y="1399032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1250" dirty="0">
                <a:solidFill>
                  <a:srgbClr val="D4A842"/>
                </a:solidFill>
                <a:latin typeface="Gilroy"/>
                <a:ea typeface="Arial"/>
                <a:cs typeface="Arial"/>
              </a:rPr>
              <a:t>Problem, what we heard, better future, scope, fees, next steps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2221992"/>
            <a:ext cx="109728" cy="512064"/>
          </a:xfrm>
          <a:prstGeom prst="rect">
            <a:avLst/>
          </a:prstGeom>
          <a:solidFill>
            <a:srgbClr val="D4A842"/>
          </a:solidFill>
          <a:ln w="12700">
            <a:solidFill>
              <a:srgbClr val="D4A84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143000" y="226771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350" b="1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Advisory decision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520440" y="2267712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5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Context, options, implications, recommendation, implementation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3090672"/>
            <a:ext cx="109728" cy="512064"/>
          </a:xfrm>
          <a:prstGeom prst="rect">
            <a:avLst/>
          </a:prstGeom>
          <a:solidFill>
            <a:srgbClr val="D4A842"/>
          </a:solidFill>
          <a:ln w="12700">
            <a:solidFill>
              <a:srgbClr val="D4A84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143000" y="313639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350" b="1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Recruitment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520440" y="3136392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5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Opportunity, work, tools, impact, quality of life, application path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3959352"/>
            <a:ext cx="109728" cy="512064"/>
          </a:xfrm>
          <a:prstGeom prst="rect">
            <a:avLst/>
          </a:prstGeom>
          <a:solidFill>
            <a:srgbClr val="D4A842"/>
          </a:solidFill>
          <a:ln w="12700">
            <a:solidFill>
              <a:srgbClr val="D4A842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143000" y="400507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350" b="1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Education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3520440" y="4005072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5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Issue, why it matters, what to watch, practical next step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68680" y="4828032"/>
            <a:ext cx="109728" cy="512064"/>
          </a:xfrm>
          <a:prstGeom prst="rect">
            <a:avLst/>
          </a:prstGeom>
          <a:solidFill>
            <a:srgbClr val="D4A842"/>
          </a:solidFill>
          <a:ln w="12700">
            <a:solidFill>
              <a:srgbClr val="D4A84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143000" y="487375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350" b="1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Internal update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3520440" y="4873752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5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Decision needed, current state, risks, actions, owner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B"/>
          </a:solidFill>
          <a:ln>
            <a:solidFill>
              <a:srgbClr val="B5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94360" y="50292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24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Release checklist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950" dirty="0">
                <a:solidFill>
                  <a:srgbClr val="D4A842"/>
                </a:solidFill>
                <a:latin typeface="Gilroy"/>
                <a:ea typeface="Arial"/>
                <a:cs typeface="Arial"/>
              </a:rPr>
              <a:t>A deck is ready when the audience can understand the story without the presenter defending the formatting.</a:t>
            </a:r>
            <a:endParaRPr lang="en-US" sz="950" dirty="0"/>
          </a:p>
        </p:txBody>
      </p:sp>
      <p:pic>
        <p:nvPicPr>
          <p:cNvPr id="4" name="Image 0" descr="/mnt/data/janke_logo_header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406281"/>
            <a:ext cx="1508760" cy="385302"/>
          </a:xfrm>
          <a:prstGeom prst="rect">
            <a:avLst/>
          </a:prstGeom>
          <a:ln>
            <a:solidFill/>
          </a:ln>
        </p:spPr>
      </p:pic>
      <p:sp>
        <p:nvSpPr>
          <p:cNvPr id="5" name="Text 2"/>
          <p:cNvSpPr/>
          <p:nvPr/>
        </p:nvSpPr>
        <p:spPr>
          <a:xfrm>
            <a:off x="502920" y="642823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Arial"/>
              </a:defRPr>
            </a:pPr>
            <a:r>
              <a:rPr lang="en-US" sz="750" dirty="0">
                <a:solidFill>
                  <a:srgbClr val="D4A842"/>
                </a:solidFill>
                <a:latin typeface="Arial"/>
                <a:ea typeface="Arial"/>
                <a:cs typeface="Arial"/>
              </a:rPr>
              <a:t>08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960120" y="6428232"/>
            <a:ext cx="3931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9C5BD"/>
                </a:solidFill>
                <a:latin typeface="Arial"/>
              </a:defRPr>
            </a:pPr>
            <a:r>
              <a:rPr lang="en-US" sz="750" dirty="0">
                <a:solidFill>
                  <a:srgbClr val="C9C5BD"/>
                </a:solidFill>
                <a:latin typeface="Arial"/>
                <a:ea typeface="Arial"/>
                <a:cs typeface="Arial"/>
              </a:rPr>
              <a:t>Janke LLP PowerPoint Standard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822960" y="1417320"/>
            <a:ext cx="10561320" cy="4526280"/>
          </a:xfrm>
          <a:prstGeom prst="roundRect">
            <a:avLst>
              <a:gd name="adj" fmla="val 606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143000" y="175564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30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□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508760" y="1737360"/>
            <a:ext cx="88696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5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The deck has one clear purpose and audience.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43000" y="219456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30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□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508760" y="2176272"/>
            <a:ext cx="88696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5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Each slide contains one main idea, decision or takeaway.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43000" y="2633472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30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□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508760" y="2615184"/>
            <a:ext cx="88696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5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Technical claims and calculations have been reviewed by the appropriate subject-matter expert.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43000" y="307238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30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□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508760" y="3054096"/>
            <a:ext cx="88696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5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Client names, facts, photos and results have the required consent.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143000" y="3511296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30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□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508760" y="3493008"/>
            <a:ext cx="88696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5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Fonts, colours, logos and footers follow the brand guide.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143000" y="395020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30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□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508760" y="3931920"/>
            <a:ext cx="88696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5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Every chart, table and image is readable and accessible.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43000" y="438912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30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□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508760" y="4370832"/>
            <a:ext cx="88696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50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The final slide tells the audience what to do next.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143000" y="5504688"/>
            <a:ext cx="93268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300" b="1" dirty="0">
                <a:solidFill>
                  <a:srgbClr val="F7F5F0"/>
                </a:solidFill>
                <a:latin typeface="Arial"/>
                <a:ea typeface="Arial"/>
                <a:cs typeface="Arial"/>
              </a:rPr>
              <a:t>Next output after approval: editable PowerPoint presentation template.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ilro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Janke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Janke LLP PowerPoint Standard v1</dc:title>
  <dc:subject>PowerPoint presentation standard</dc:subject>
  <dc:creator>Janke LLP</dc:creator>
  <cp:lastModifiedBy>Janke LLP</cp:lastModifiedBy>
  <cp:revision>1</cp:revision>
  <dcterms:created xsi:type="dcterms:W3CDTF">2026-07-28T19:47:01Z</dcterms:created>
  <dcterms:modified xsi:type="dcterms:W3CDTF">2026-07-28T19:47:01Z</dcterms:modified>
</cp:coreProperties>
</file>